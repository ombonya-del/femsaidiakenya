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E9D7DD"/>
              </a:gs>
              <a:gs pos="100000">
                <a:srgbClr val="FCFAFB"/>
              </a:gs>
            </a:gsLst>
            <a:lin scaled="0" ang="147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55448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 spc="20">
                <a:solidFill>
                  <a:srgbClr val="D2336A"/>
                </a:solidFill>
                <a:latin typeface="Calibri"/>
              </a:rPr>
              <a:t>COMMUNITY MEDIA TRUST  ·  NAIROBI, KENYA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057400"/>
            <a:ext cx="1060704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5400" b="1" i="0">
                <a:solidFill>
                  <a:srgbClr val="25121B"/>
                </a:solidFill>
                <a:latin typeface="Cambria"/>
              </a:rPr>
              <a:t>The FemSaidia Kenya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5400" b="1" i="0">
                <a:solidFill>
                  <a:srgbClr val="D2336A"/>
                </a:solidFill>
                <a:latin typeface="Cambria"/>
              </a:rPr>
              <a:t>Blueprint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977639"/>
            <a:ext cx="98755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2200" b="0" i="1">
                <a:solidFill>
                  <a:srgbClr val="6F5B65"/>
                </a:solidFill>
                <a:latin typeface="Calibri"/>
              </a:rPr>
              <a:t>Ending femicide through data, technology and community agency.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5074920"/>
            <a:ext cx="5120640" cy="18288"/>
          </a:xfrm>
          <a:prstGeom prst="rect">
            <a:avLst/>
          </a:prstGeom>
          <a:solidFill>
            <a:srgbClr val="8A1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525780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25121B"/>
                </a:solidFill>
                <a:latin typeface="Calibri"/>
              </a:rPr>
              <a:t>A six-tool intelligence &amp; community-safety ecosystem — already built.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6F5B65"/>
                </a:solidFill>
                <a:latin typeface="Calibri"/>
              </a:rPr>
              <a:t>femsaidiakenya.org   ·   Lead developer: Victor Ombonya   ·   June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 spc="22">
                <a:solidFill>
                  <a:srgbClr val="D2336A"/>
                </a:solidFill>
                <a:latin typeface="Calibri"/>
              </a:rPr>
              <a:t>THE CRISIS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6012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3400" b="1" i="0">
                <a:solidFill>
                  <a:srgbClr val="25121B"/>
                </a:solidFill>
                <a:latin typeface="Cambria"/>
              </a:rPr>
              <a:t>Kenya has one of the highest femicide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3400" b="1" i="0">
                <a:solidFill>
                  <a:srgbClr val="25121B"/>
                </a:solidFill>
                <a:latin typeface="Cambria"/>
              </a:rPr>
              <a:t>rates in sub-Saharan Africa.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697480"/>
            <a:ext cx="2542032" cy="1920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A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2990088"/>
            <a:ext cx="2084831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4600" b="1" i="0">
                <a:solidFill>
                  <a:srgbClr val="D2336A"/>
                </a:solidFill>
                <a:latin typeface="Cambria"/>
              </a:rPr>
              <a:t>47hrs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3867912"/>
            <a:ext cx="2084831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6F5B65"/>
                </a:solidFill>
                <a:latin typeface="Calibri"/>
              </a:rPr>
              <a:t>one woman killed, on average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47872" y="2697480"/>
            <a:ext cx="2542032" cy="1920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A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76472" y="2990088"/>
            <a:ext cx="2084831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4600" b="1" i="0">
                <a:solidFill>
                  <a:srgbClr val="C2520F"/>
                </a:solidFill>
                <a:latin typeface="Cambria"/>
              </a:rPr>
              <a:t>600+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76472" y="3867912"/>
            <a:ext cx="2084831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6F5B65"/>
                </a:solidFill>
                <a:latin typeface="Calibri"/>
              </a:rPr>
              <a:t>cases documented since 2014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72784" y="2697480"/>
            <a:ext cx="2542032" cy="1920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A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01384" y="2990088"/>
            <a:ext cx="2084831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4600" b="1" i="0">
                <a:solidFill>
                  <a:srgbClr val="AD7916"/>
                </a:solidFill>
                <a:latin typeface="Cambria"/>
              </a:rPr>
              <a:t>83%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01384" y="3867912"/>
            <a:ext cx="2084831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6F5B65"/>
                </a:solidFill>
                <a:latin typeface="Calibri"/>
              </a:rPr>
              <a:t>of cases never reach prosecution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97696" y="2697480"/>
            <a:ext cx="2542032" cy="1920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A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226296" y="2990088"/>
            <a:ext cx="2084831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4600" b="1" i="0">
                <a:solidFill>
                  <a:srgbClr val="189655"/>
                </a:solidFill>
                <a:latin typeface="Cambria"/>
              </a:rPr>
              <a:t>3%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26296" y="3867912"/>
            <a:ext cx="2084831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6F5B65"/>
                </a:solidFill>
                <a:latin typeface="Calibri"/>
              </a:rPr>
              <a:t>conviction rate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5074920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25121B"/>
                </a:solidFill>
                <a:latin typeface="Calibri"/>
              </a:rPr>
              <a:t>The scale of the crisis is simultaneously visible — every Kenyan has seen the headlines — and </a:t>
            </a:r>
            <a:r>
              <a:rPr sz="1500" b="1" i="0">
                <a:solidFill>
                  <a:srgbClr val="D2336A"/>
                </a:solidFill>
                <a:latin typeface="Calibri"/>
              </a:rPr>
              <a:t>unmeasurable.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 spc="22">
                <a:solidFill>
                  <a:srgbClr val="D2336A"/>
                </a:solidFill>
                <a:latin typeface="Calibri"/>
              </a:rPr>
              <a:t>GENESIS  ·  WHY WE BUILT 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60120"/>
            <a:ext cx="676656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3200" b="1" i="0">
                <a:solidFill>
                  <a:srgbClr val="25121B"/>
                </a:solidFill>
                <a:latin typeface="Cambria"/>
              </a:rPr>
              <a:t>Powerful databases existed.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3200" b="1" i="0">
                <a:solidFill>
                  <a:srgbClr val="D2336A"/>
                </a:solidFill>
                <a:latin typeface="Cambria"/>
              </a:rPr>
              <a:t>None of them kept counting.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743200"/>
            <a:ext cx="6583680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6F5B65"/>
                </a:solidFill>
                <a:latin typeface="Calibri"/>
              </a:rPr>
              <a:t>Investigative teams built Kenya's first femicide datasets — Africa Data Hub, Odipo Dev and Africa Uncensored's </a:t>
            </a:r>
            <a:r>
              <a:rPr sz="1450" b="1" i="1">
                <a:solidFill>
                  <a:srgbClr val="25121B"/>
                </a:solidFill>
                <a:latin typeface="Calibri"/>
              </a:rPr>
              <a:t>Silencing Women</a:t>
            </a:r>
            <a:r>
              <a:rPr sz="1450" b="0" i="0">
                <a:solidFill>
                  <a:srgbClr val="6F5B65"/>
                </a:solidFill>
                <a:latin typeface="Calibri"/>
              </a:rPr>
              <a:t> logged 1,000+ cases from court judgments and media (2016–2024).</a:t>
            </a:r>
          </a:p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200"/>
              </a:spcAft>
            </a:pPr>
            <a:r>
              <a:rPr sz="500" b="0" i="0">
                <a:solidFill>
                  <a:srgbClr val="6F5B65"/>
                </a:solidFill>
                <a:latin typeface="Calibri"/>
              </a:rPr>
              <a:t/>
            </a:r>
          </a:p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6F5B65"/>
                </a:solidFill>
                <a:latin typeface="Calibri"/>
              </a:rPr>
              <a:t>But these are retrospective snapshots, built for journalism — not continuously updated, not verified case by case, and not wired to a safety response.</a:t>
            </a:r>
          </a:p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200"/>
              </a:spcAft>
            </a:pPr>
            <a:r>
              <a:rPr sz="500" b="0" i="0">
                <a:solidFill>
                  <a:srgbClr val="6F5B65"/>
                </a:solidFill>
                <a:latin typeface="Calibri"/>
              </a:rPr>
              <a:t/>
            </a:r>
          </a:p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25121B"/>
                </a:solidFill>
                <a:latin typeface="Calibri"/>
              </a:rPr>
              <a:t>FemSaidia closes the gap between documentation and response: a </a:t>
            </a:r>
            <a:r>
              <a:rPr sz="1450" b="1" i="0">
                <a:solidFill>
                  <a:srgbClr val="D2336A"/>
                </a:solidFill>
                <a:latin typeface="Calibri"/>
              </a:rPr>
              <a:t>living</a:t>
            </a:r>
            <a:r>
              <a:rPr sz="1450" b="0" i="0">
                <a:solidFill>
                  <a:srgbClr val="25121B"/>
                </a:solidFill>
                <a:latin typeface="Calibri"/>
              </a:rPr>
              <a:t> database that keeps counting, verifies as it goes, and connects every case to a justice funnel and a safety ecosystem.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818120" y="960120"/>
            <a:ext cx="3520440" cy="5074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A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38160" y="1298448"/>
            <a:ext cx="2926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 spc="10">
                <a:solidFill>
                  <a:srgbClr val="D2336A"/>
                </a:solidFill>
                <a:latin typeface="Calibri"/>
              </a:rPr>
              <a:t>FROM SNAPSHOT TO 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38160" y="1874519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 spc="8">
                <a:solidFill>
                  <a:srgbClr val="6F5B65"/>
                </a:solidFill>
                <a:latin typeface="Calibri"/>
              </a:rPr>
              <a:t>WHAT EXISTED</a:t>
            </a:r>
          </a:p>
        </p:txBody>
      </p:sp>
      <p:sp>
        <p:nvSpPr>
          <p:cNvPr id="9" name="Oval 8"/>
          <p:cNvSpPr/>
          <p:nvPr/>
        </p:nvSpPr>
        <p:spPr>
          <a:xfrm>
            <a:off x="8202168" y="2340864"/>
            <a:ext cx="118872" cy="118872"/>
          </a:xfrm>
          <a:prstGeom prst="ellipse">
            <a:avLst/>
          </a:prstGeom>
          <a:solidFill>
            <a:srgbClr val="AD79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94776" y="2249424"/>
            <a:ext cx="2743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25121B"/>
                </a:solidFill>
                <a:latin typeface="Calibri"/>
              </a:rPr>
              <a:t>Investigative snapshots</a:t>
            </a:r>
          </a:p>
        </p:txBody>
      </p:sp>
      <p:sp>
        <p:nvSpPr>
          <p:cNvPr id="11" name="Oval 10"/>
          <p:cNvSpPr/>
          <p:nvPr/>
        </p:nvSpPr>
        <p:spPr>
          <a:xfrm>
            <a:off x="8202168" y="2798064"/>
            <a:ext cx="118872" cy="118872"/>
          </a:xfrm>
          <a:prstGeom prst="ellipse">
            <a:avLst/>
          </a:prstGeom>
          <a:solidFill>
            <a:srgbClr val="AD79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94776" y="2706624"/>
            <a:ext cx="2743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25121B"/>
                </a:solidFill>
                <a:latin typeface="Calibri"/>
              </a:rPr>
              <a:t>Court records + media</a:t>
            </a:r>
          </a:p>
        </p:txBody>
      </p:sp>
      <p:sp>
        <p:nvSpPr>
          <p:cNvPr id="13" name="Oval 12"/>
          <p:cNvSpPr/>
          <p:nvPr/>
        </p:nvSpPr>
        <p:spPr>
          <a:xfrm>
            <a:off x="8202168" y="3255264"/>
            <a:ext cx="118872" cy="118872"/>
          </a:xfrm>
          <a:prstGeom prst="ellipse">
            <a:avLst/>
          </a:prstGeom>
          <a:solidFill>
            <a:srgbClr val="AD79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94776" y="3163824"/>
            <a:ext cx="2743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25121B"/>
                </a:solidFill>
                <a:latin typeface="Calibri"/>
              </a:rPr>
              <a:t>2016–2024, retrospective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38160" y="3794760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 spc="8">
                <a:solidFill>
                  <a:srgbClr val="6F5B65"/>
                </a:solidFill>
                <a:latin typeface="Calibri"/>
              </a:rPr>
              <a:t>WHAT WAS MISSING</a:t>
            </a:r>
          </a:p>
        </p:txBody>
      </p:sp>
      <p:sp>
        <p:nvSpPr>
          <p:cNvPr id="16" name="Oval 15"/>
          <p:cNvSpPr/>
          <p:nvPr/>
        </p:nvSpPr>
        <p:spPr>
          <a:xfrm>
            <a:off x="8202168" y="4261104"/>
            <a:ext cx="118872" cy="118872"/>
          </a:xfrm>
          <a:prstGeom prst="ellipse">
            <a:avLst/>
          </a:prstGeom>
          <a:solidFill>
            <a:srgbClr val="1896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94776" y="4169664"/>
            <a:ext cx="2743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25121B"/>
                </a:solidFill>
                <a:latin typeface="Calibri"/>
              </a:rPr>
              <a:t>Continuously updated</a:t>
            </a:r>
          </a:p>
        </p:txBody>
      </p:sp>
      <p:sp>
        <p:nvSpPr>
          <p:cNvPr id="18" name="Oval 17"/>
          <p:cNvSpPr/>
          <p:nvPr/>
        </p:nvSpPr>
        <p:spPr>
          <a:xfrm>
            <a:off x="8202168" y="4718304"/>
            <a:ext cx="118872" cy="118872"/>
          </a:xfrm>
          <a:prstGeom prst="ellipse">
            <a:avLst/>
          </a:prstGeom>
          <a:solidFill>
            <a:srgbClr val="1896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94776" y="4626864"/>
            <a:ext cx="2743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25121B"/>
                </a:solidFill>
                <a:latin typeface="Calibri"/>
              </a:rPr>
              <a:t>Verified case by case</a:t>
            </a:r>
          </a:p>
        </p:txBody>
      </p:sp>
      <p:sp>
        <p:nvSpPr>
          <p:cNvPr id="20" name="Oval 19"/>
          <p:cNvSpPr/>
          <p:nvPr/>
        </p:nvSpPr>
        <p:spPr>
          <a:xfrm>
            <a:off x="8202168" y="5175504"/>
            <a:ext cx="118872" cy="118872"/>
          </a:xfrm>
          <a:prstGeom prst="ellipse">
            <a:avLst/>
          </a:prstGeom>
          <a:solidFill>
            <a:srgbClr val="1896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94776" y="5084064"/>
            <a:ext cx="2743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25121B"/>
                </a:solidFill>
                <a:latin typeface="Calibri"/>
              </a:rPr>
              <a:t>Wired to a live response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F3DBE4"/>
              </a:gs>
              <a:gs pos="100000">
                <a:srgbClr val="FCFAFB"/>
              </a:gs>
            </a:gsLst>
            <a:lin scaled="0" ang="147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 spc="22">
                <a:solidFill>
                  <a:srgbClr val="D2336A"/>
                </a:solidFill>
                <a:latin typeface="Calibri"/>
              </a:rPr>
              <a:t>THE INSIGHT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60120"/>
            <a:ext cx="105156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3200" b="1" i="0">
                <a:solidFill>
                  <a:srgbClr val="25121B"/>
                </a:solidFill>
                <a:latin typeface="Cambria"/>
              </a:rPr>
              <a:t>Documentation alone was not enough.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2000" b="0" i="0">
                <a:solidFill>
                  <a:srgbClr val="6F5B65"/>
                </a:solidFill>
                <a:latin typeface="Calibri"/>
              </a:rPr>
              <a:t>So the database became an </a:t>
            </a:r>
            <a:r>
              <a:rPr sz="2000" b="1" i="0">
                <a:solidFill>
                  <a:srgbClr val="D2336A"/>
                </a:solidFill>
                <a:latin typeface="Calibri"/>
              </a:rPr>
              <a:t>ecosystem.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788920"/>
            <a:ext cx="10515600" cy="10241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A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51560" y="3063239"/>
            <a:ext cx="457200" cy="457200"/>
          </a:xfrm>
          <a:prstGeom prst="ellipse">
            <a:avLst/>
          </a:prstGeom>
          <a:solidFill>
            <a:srgbClr val="D233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3044951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83080" y="2971800"/>
            <a:ext cx="9052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1" i="0">
                <a:solidFill>
                  <a:srgbClr val="25121B"/>
                </a:solidFill>
                <a:latin typeface="Calibri"/>
              </a:rPr>
              <a:t>The data revealed patterns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83080" y="3319272"/>
            <a:ext cx="9326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6F5B65"/>
                </a:solidFill>
                <a:latin typeface="Calibri"/>
              </a:rPr>
              <a:t>the youth of victims, the intimacy of perpetrators, the role of digital platforms in the abuse pipeline.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3977639"/>
            <a:ext cx="10515600" cy="10241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A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51560" y="4251959"/>
            <a:ext cx="457200" cy="457200"/>
          </a:xfrm>
          <a:prstGeom prst="ellipse">
            <a:avLst/>
          </a:prstGeom>
          <a:solidFill>
            <a:srgbClr val="C252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" y="4233672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83080" y="4160520"/>
            <a:ext cx="9052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1" i="0">
                <a:solidFill>
                  <a:srgbClr val="25121B"/>
                </a:solidFill>
                <a:latin typeface="Calibri"/>
              </a:rPr>
              <a:t>Patterns demanded a response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83080" y="4507992"/>
            <a:ext cx="9326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6F5B65"/>
                </a:solidFill>
                <a:latin typeface="Calibri"/>
              </a:rPr>
              <a:t>not just a research output — a safety response that reached women where they actually are.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5166360"/>
            <a:ext cx="10515600" cy="10241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A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051560" y="5440680"/>
            <a:ext cx="457200" cy="457200"/>
          </a:xfrm>
          <a:prstGeom prst="ellipse">
            <a:avLst/>
          </a:prstGeom>
          <a:solidFill>
            <a:srgbClr val="1896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1560" y="5422392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83080" y="5349240"/>
            <a:ext cx="9052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1" i="0">
                <a:solidFill>
                  <a:srgbClr val="25121B"/>
                </a:solidFill>
                <a:latin typeface="Calibri"/>
              </a:rPr>
              <a:t>Each tool answers a recognition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83080" y="5696712"/>
            <a:ext cx="9326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6F5B65"/>
                </a:solidFill>
                <a:latin typeface="Calibri"/>
              </a:rPr>
              <a:t>women in abusive homes, women without smartphones, women at specific life transitions, the gap before help.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E9D7DD"/>
              </a:gs>
              <a:gs pos="100000">
                <a:srgbClr val="FCFAFB"/>
              </a:gs>
            </a:gsLst>
            <a:lin scaled="0" ang="147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 spc="22">
                <a:solidFill>
                  <a:srgbClr val="D2336A"/>
                </a:solidFill>
                <a:latin typeface="Calibri"/>
              </a:rPr>
              <a:t>THE ECOSYSTEM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14400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3400" b="1" i="0">
                <a:solidFill>
                  <a:srgbClr val="25121B"/>
                </a:solidFill>
                <a:latin typeface="Cambria"/>
              </a:rPr>
              <a:t>Six tools. One system.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27632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6F5B65"/>
                </a:solidFill>
                <a:latin typeface="Calibri"/>
              </a:rPr>
              <a:t>One Supabase backend · one GitHub repository · one deployment — not separate products that share a brand.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331720"/>
            <a:ext cx="3383280" cy="1783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A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97280" y="2651760"/>
            <a:ext cx="566928" cy="566928"/>
          </a:xfrm>
          <a:prstGeom prst="ellipse">
            <a:avLst/>
          </a:prstGeom>
          <a:solidFill>
            <a:srgbClr val="8A1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633472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FFFFFF"/>
                </a:solidFill>
                <a:latin typeface="Cambria"/>
              </a:rPr>
              <a:t>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2642615"/>
            <a:ext cx="2240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900" b="1" i="0">
                <a:solidFill>
                  <a:srgbClr val="25121B"/>
                </a:solidFill>
                <a:latin typeface="Cambria"/>
              </a:rPr>
              <a:t>FemSaidia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3081527"/>
            <a:ext cx="2240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D2336A"/>
                </a:solidFill>
                <a:latin typeface="Calibri"/>
              </a:rPr>
              <a:t>Femicide intelligence platform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34840" y="2331720"/>
            <a:ext cx="3383280" cy="1783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A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709160" y="2651760"/>
            <a:ext cx="566928" cy="566928"/>
          </a:xfrm>
          <a:prstGeom prst="ellipse">
            <a:avLst/>
          </a:prstGeom>
          <a:solidFill>
            <a:srgbClr val="1086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09160" y="2633472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FFFFFF"/>
                </a:solidFill>
                <a:latin typeface="Cambria"/>
              </a:rPr>
              <a:t>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40680" y="2642615"/>
            <a:ext cx="2240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900" b="1" i="0">
                <a:solidFill>
                  <a:srgbClr val="25121B"/>
                </a:solidFill>
                <a:latin typeface="Cambria"/>
              </a:rPr>
              <a:t>hepa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40680" y="3081527"/>
            <a:ext cx="2240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108673"/>
                </a:solidFill>
                <a:latin typeface="Calibri"/>
              </a:rPr>
              <a:t>Calculator-disguised safety app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0" y="2331720"/>
            <a:ext cx="3383280" cy="1783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A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321040" y="2651760"/>
            <a:ext cx="566928" cy="566928"/>
          </a:xfrm>
          <a:prstGeom prst="ellipse">
            <a:avLst/>
          </a:prstGeom>
          <a:solidFill>
            <a:srgbClr val="AD79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21040" y="2633472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FFFFFF"/>
                </a:solidFill>
                <a:latin typeface="Cambria"/>
              </a:rPr>
              <a:t>U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52560" y="2642615"/>
            <a:ext cx="2240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900" b="1" i="0">
                <a:solidFill>
                  <a:srgbClr val="25121B"/>
                </a:solidFill>
                <a:latin typeface="Cambria"/>
              </a:rPr>
              <a:t>Salmin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0" y="3081527"/>
            <a:ext cx="2240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AD7916"/>
                </a:solidFill>
                <a:latin typeface="Calibri"/>
              </a:rPr>
              <a:t>USSD for every phone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2960" y="4370831"/>
            <a:ext cx="3383280" cy="1783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A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097280" y="4690871"/>
            <a:ext cx="566928" cy="566928"/>
          </a:xfrm>
          <a:prstGeom prst="ellipse">
            <a:avLst/>
          </a:prstGeom>
          <a:solidFill>
            <a:srgbClr val="D233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97280" y="4672583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FFFFFF"/>
                </a:solidFill>
                <a:latin typeface="Cambria"/>
              </a:rPr>
              <a:t>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828800" y="4681727"/>
            <a:ext cx="2240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900" b="1" i="0">
                <a:solidFill>
                  <a:srgbClr val="25121B"/>
                </a:solidFill>
                <a:latin typeface="Cambria"/>
              </a:rPr>
              <a:t>Red Flag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828800" y="5120640"/>
            <a:ext cx="2240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D2336A"/>
                </a:solidFill>
                <a:latin typeface="Calibri"/>
              </a:rPr>
              <a:t>Tri-lingual safety PWA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434840" y="4370831"/>
            <a:ext cx="3383280" cy="1783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A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4709160" y="4690871"/>
            <a:ext cx="566928" cy="566928"/>
          </a:xfrm>
          <a:prstGeom prst="ellipse">
            <a:avLst/>
          </a:prstGeom>
          <a:solidFill>
            <a:srgbClr val="1896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709160" y="4672583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FFFFFF"/>
                </a:solidFill>
                <a:latin typeface="Cambria"/>
              </a:rPr>
              <a:t>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40680" y="4681727"/>
            <a:ext cx="2240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900" b="1" i="0">
                <a:solidFill>
                  <a:srgbClr val="25121B"/>
                </a:solidFill>
                <a:latin typeface="Cambria"/>
              </a:rPr>
              <a:t>Itika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40680" y="5120640"/>
            <a:ext cx="2240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189655"/>
                </a:solidFill>
                <a:latin typeface="Calibri"/>
              </a:rPr>
              <a:t>Community first responders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046720" y="4370831"/>
            <a:ext cx="3383280" cy="1783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A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8321040" y="4690871"/>
            <a:ext cx="566928" cy="566928"/>
          </a:xfrm>
          <a:prstGeom prst="ellipse">
            <a:avLst/>
          </a:prstGeom>
          <a:solidFill>
            <a:srgbClr val="6A4B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321040" y="4672583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FFFFFF"/>
                </a:solidFill>
                <a:latin typeface="Cambria"/>
              </a:rPr>
              <a:t>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052560" y="4681727"/>
            <a:ext cx="2240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900" b="1" i="0">
                <a:solidFill>
                  <a:srgbClr val="25121B"/>
                </a:solidFill>
                <a:latin typeface="Cambria"/>
              </a:rPr>
              <a:t>SaInt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052560" y="5120640"/>
            <a:ext cx="2240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6A4BCF"/>
                </a:solidFill>
                <a:latin typeface="Calibri"/>
              </a:rPr>
              <a:t>Intelligence &amp; funding desk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E9D7DD"/>
              </a:gs>
              <a:gs pos="100000">
                <a:srgbClr val="FCFAFB"/>
              </a:gs>
            </a:gsLst>
            <a:lin scaled="0" ang="147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 spc="22">
                <a:solidFill>
                  <a:srgbClr val="D2336A"/>
                </a:solidFill>
                <a:latin typeface="Calibri"/>
              </a:rPr>
              <a:t>THE ECOSYSTEM  ·  TOOL</a:t>
            </a:r>
          </a:p>
        </p:txBody>
      </p:sp>
      <p:sp>
        <p:nvSpPr>
          <p:cNvPr id="4" name="Oval 3"/>
          <p:cNvSpPr/>
          <p:nvPr/>
        </p:nvSpPr>
        <p:spPr>
          <a:xfrm>
            <a:off x="822960" y="1051560"/>
            <a:ext cx="868680" cy="868680"/>
          </a:xfrm>
          <a:prstGeom prst="ellipse">
            <a:avLst/>
          </a:prstGeom>
          <a:solidFill>
            <a:srgbClr val="8A1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033271"/>
            <a:ext cx="868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3000" b="1" i="0">
                <a:solidFill>
                  <a:srgbClr val="FFFFFF"/>
                </a:solidFill>
                <a:latin typeface="Cambria"/>
              </a:rPr>
              <a:t>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74519" y="1078992"/>
            <a:ext cx="7772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3600" b="1" i="0">
                <a:solidFill>
                  <a:srgbClr val="25121B"/>
                </a:solidFill>
                <a:latin typeface="Cambria"/>
              </a:rPr>
              <a:t>FemSaidia Kenya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74519" y="1847088"/>
            <a:ext cx="7772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D2336A"/>
                </a:solidFill>
                <a:latin typeface="Calibri"/>
              </a:rPr>
              <a:t>The femicide intelligence platform</a:t>
            </a:r>
          </a:p>
        </p:txBody>
      </p:sp>
      <p:sp>
        <p:nvSpPr>
          <p:cNvPr id="8" name="Oval 7"/>
          <p:cNvSpPr/>
          <p:nvPr/>
        </p:nvSpPr>
        <p:spPr>
          <a:xfrm>
            <a:off x="868680" y="2752344"/>
            <a:ext cx="146304" cy="146304"/>
          </a:xfrm>
          <a:prstGeom prst="ellipse">
            <a:avLst/>
          </a:prstGeom>
          <a:solidFill>
            <a:srgbClr val="8A1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2660904"/>
            <a:ext cx="67665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200"/>
              </a:spcAft>
            </a:pPr>
            <a:r>
              <a:rPr sz="1550" b="1" i="0">
                <a:solidFill>
                  <a:srgbClr val="25121B"/>
                </a:solidFill>
                <a:latin typeface="Calibri"/>
              </a:rPr>
              <a:t>Case tracker &amp; justice funnel</a:t>
            </a:r>
            <a:r>
              <a:rPr sz="1550" b="0" i="0">
                <a:solidFill>
                  <a:srgbClr val="6F5B65"/>
                </a:solidFill>
                <a:latin typeface="Calibri"/>
              </a:rPr>
              <a:t>  — every case named, verified, mapped to prosecution stage.</a:t>
            </a:r>
          </a:p>
        </p:txBody>
      </p:sp>
      <p:sp>
        <p:nvSpPr>
          <p:cNvPr id="10" name="Oval 9"/>
          <p:cNvSpPr/>
          <p:nvPr/>
        </p:nvSpPr>
        <p:spPr>
          <a:xfrm>
            <a:off x="868680" y="3593592"/>
            <a:ext cx="146304" cy="146304"/>
          </a:xfrm>
          <a:prstGeom prst="ellipse">
            <a:avLst/>
          </a:prstGeom>
          <a:solidFill>
            <a:srgbClr val="8A1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88720" y="3502152"/>
            <a:ext cx="67665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200"/>
              </a:spcAft>
            </a:pPr>
            <a:r>
              <a:rPr sz="1550" b="1" i="0">
                <a:solidFill>
                  <a:srgbClr val="25121B"/>
                </a:solidFill>
                <a:latin typeface="Calibri"/>
              </a:rPr>
              <a:t>Red Flag perpetrator profiles</a:t>
            </a:r>
            <a:r>
              <a:rPr sz="1550" b="0" i="0">
                <a:solidFill>
                  <a:srgbClr val="6F5B65"/>
                </a:solidFill>
                <a:latin typeface="Calibri"/>
              </a:rPr>
              <a:t>  — community-submitted, admin-verified, tiered by county.</a:t>
            </a:r>
          </a:p>
        </p:txBody>
      </p:sp>
      <p:sp>
        <p:nvSpPr>
          <p:cNvPr id="12" name="Oval 11"/>
          <p:cNvSpPr/>
          <p:nvPr/>
        </p:nvSpPr>
        <p:spPr>
          <a:xfrm>
            <a:off x="868680" y="4434840"/>
            <a:ext cx="146304" cy="146304"/>
          </a:xfrm>
          <a:prstGeom prst="ellipse">
            <a:avLst/>
          </a:prstGeom>
          <a:solidFill>
            <a:srgbClr val="8A1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88720" y="4343400"/>
            <a:ext cx="67665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200"/>
              </a:spcAft>
            </a:pPr>
            <a:r>
              <a:rPr sz="1550" b="1" i="0">
                <a:solidFill>
                  <a:srgbClr val="25121B"/>
                </a:solidFill>
                <a:latin typeface="Calibri"/>
              </a:rPr>
              <a:t>Resource library &amp; CSO network</a:t>
            </a:r>
            <a:r>
              <a:rPr sz="1550" b="0" i="0">
                <a:solidFill>
                  <a:srgbClr val="6F5B65"/>
                </a:solidFill>
                <a:latin typeface="Calibri"/>
              </a:rPr>
              <a:t>  — shared infrastructure for partners and journalists.</a:t>
            </a:r>
          </a:p>
        </p:txBody>
      </p:sp>
      <p:sp>
        <p:nvSpPr>
          <p:cNvPr id="14" name="Oval 13"/>
          <p:cNvSpPr/>
          <p:nvPr/>
        </p:nvSpPr>
        <p:spPr>
          <a:xfrm>
            <a:off x="868680" y="5276088"/>
            <a:ext cx="146304" cy="146304"/>
          </a:xfrm>
          <a:prstGeom prst="ellipse">
            <a:avLst/>
          </a:prstGeom>
          <a:solidFill>
            <a:srgbClr val="8A1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88720" y="5184648"/>
            <a:ext cx="67665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200"/>
              </a:spcAft>
            </a:pPr>
            <a:r>
              <a:rPr sz="1550" b="1" i="0">
                <a:solidFill>
                  <a:srgbClr val="25121B"/>
                </a:solidFill>
                <a:latin typeface="Calibri"/>
              </a:rPr>
              <a:t>Invite-gated by design</a:t>
            </a:r>
            <a:r>
              <a:rPr sz="1550" b="0" i="0">
                <a:solidFill>
                  <a:srgbClr val="6F5B65"/>
                </a:solidFill>
                <a:latin typeface="Calibri"/>
              </a:rPr>
              <a:t>  — magic-link access so the data can't be weaponised.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0" y="2697480"/>
            <a:ext cx="3108960" cy="2743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A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49640" y="3063240"/>
            <a:ext cx="2514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 spc="10">
                <a:solidFill>
                  <a:srgbClr val="D2336A"/>
                </a:solidFill>
                <a:latin typeface="Calibri"/>
              </a:rPr>
              <a:t>FOUNDING GAP CLOSED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49640" y="3520440"/>
            <a:ext cx="251460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25121B"/>
                </a:solidFill>
                <a:latin typeface="Cambria"/>
              </a:rPr>
              <a:t>Kenya's first live, continuously-verified femicide database — wired to a response.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D9E6E5"/>
              </a:gs>
              <a:gs pos="100000">
                <a:srgbClr val="FCFAFB"/>
              </a:gs>
            </a:gsLst>
            <a:lin scaled="0" ang="147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 spc="22">
                <a:solidFill>
                  <a:srgbClr val="D2336A"/>
                </a:solidFill>
                <a:latin typeface="Calibri"/>
              </a:rPr>
              <a:t>THE ECOSYSTEM  ·  TOOL</a:t>
            </a:r>
          </a:p>
        </p:txBody>
      </p:sp>
      <p:sp>
        <p:nvSpPr>
          <p:cNvPr id="4" name="Oval 3"/>
          <p:cNvSpPr/>
          <p:nvPr/>
        </p:nvSpPr>
        <p:spPr>
          <a:xfrm>
            <a:off x="822960" y="1051560"/>
            <a:ext cx="868680" cy="868680"/>
          </a:xfrm>
          <a:prstGeom prst="ellipse">
            <a:avLst/>
          </a:prstGeom>
          <a:solidFill>
            <a:srgbClr val="1086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033271"/>
            <a:ext cx="868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3000" b="1" i="0">
                <a:solidFill>
                  <a:srgbClr val="FFFFFF"/>
                </a:solidFill>
                <a:latin typeface="Cambria"/>
              </a:rPr>
              <a:t>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74519" y="1078992"/>
            <a:ext cx="7772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3600" b="1" i="0">
                <a:solidFill>
                  <a:srgbClr val="25121B"/>
                </a:solidFill>
                <a:latin typeface="Cambria"/>
              </a:rPr>
              <a:t>hepa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74519" y="1847088"/>
            <a:ext cx="7772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108673"/>
                </a:solidFill>
                <a:latin typeface="Calibri"/>
              </a:rPr>
              <a:t>A safety app that doesn't look like one</a:t>
            </a:r>
          </a:p>
        </p:txBody>
      </p:sp>
      <p:sp>
        <p:nvSpPr>
          <p:cNvPr id="8" name="Oval 7"/>
          <p:cNvSpPr/>
          <p:nvPr/>
        </p:nvSpPr>
        <p:spPr>
          <a:xfrm>
            <a:off x="868680" y="2752344"/>
            <a:ext cx="146304" cy="146304"/>
          </a:xfrm>
          <a:prstGeom prst="ellipse">
            <a:avLst/>
          </a:prstGeom>
          <a:solidFill>
            <a:srgbClr val="1086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2660904"/>
            <a:ext cx="67665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200"/>
              </a:spcAft>
            </a:pPr>
            <a:r>
              <a:rPr sz="1550" b="1" i="0">
                <a:solidFill>
                  <a:srgbClr val="25121B"/>
                </a:solidFill>
                <a:latin typeface="Calibri"/>
              </a:rPr>
              <a:t>Calculator decoy</a:t>
            </a:r>
            <a:r>
              <a:rPr sz="1550" b="0" i="0">
                <a:solidFill>
                  <a:srgbClr val="6F5B65"/>
                </a:solidFill>
                <a:latin typeface="Calibri"/>
              </a:rPr>
              <a:t>  — opens as a working calculator; no logo, no trace.</a:t>
            </a:r>
          </a:p>
        </p:txBody>
      </p:sp>
      <p:sp>
        <p:nvSpPr>
          <p:cNvPr id="10" name="Oval 9"/>
          <p:cNvSpPr/>
          <p:nvPr/>
        </p:nvSpPr>
        <p:spPr>
          <a:xfrm>
            <a:off x="868680" y="3593592"/>
            <a:ext cx="146304" cy="146304"/>
          </a:xfrm>
          <a:prstGeom prst="ellipse">
            <a:avLst/>
          </a:prstGeom>
          <a:solidFill>
            <a:srgbClr val="1086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88720" y="3502152"/>
            <a:ext cx="67665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200"/>
              </a:spcAft>
            </a:pPr>
            <a:r>
              <a:rPr sz="1550" b="1" i="0">
                <a:solidFill>
                  <a:srgbClr val="25121B"/>
                </a:solidFill>
                <a:latin typeface="Calibri"/>
              </a:rPr>
              <a:t>Long-press panic</a:t>
            </a:r>
            <a:r>
              <a:rPr sz="1550" b="0" i="0">
                <a:solidFill>
                  <a:srgbClr val="6F5B65"/>
                </a:solidFill>
                <a:latin typeface="Calibri"/>
              </a:rPr>
              <a:t>  — hold equals 3s to fire a GPS alert to Itika.</a:t>
            </a:r>
          </a:p>
        </p:txBody>
      </p:sp>
      <p:sp>
        <p:nvSpPr>
          <p:cNvPr id="12" name="Oval 11"/>
          <p:cNvSpPr/>
          <p:nvPr/>
        </p:nvSpPr>
        <p:spPr>
          <a:xfrm>
            <a:off x="868680" y="4434840"/>
            <a:ext cx="146304" cy="146304"/>
          </a:xfrm>
          <a:prstGeom prst="ellipse">
            <a:avLst/>
          </a:prstGeom>
          <a:solidFill>
            <a:srgbClr val="1086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88720" y="4343400"/>
            <a:ext cx="67665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200"/>
              </a:spcAft>
            </a:pPr>
            <a:r>
              <a:rPr sz="1550" b="1" i="0">
                <a:solidFill>
                  <a:srgbClr val="25121B"/>
                </a:solidFill>
                <a:latin typeface="Calibri"/>
              </a:rPr>
              <a:t>Check-in timer</a:t>
            </a:r>
            <a:r>
              <a:rPr sz="1550" b="0" i="0">
                <a:solidFill>
                  <a:srgbClr val="6F5B65"/>
                </a:solidFill>
                <a:latin typeface="Calibri"/>
              </a:rPr>
              <a:t>  — miss your safe-time and an alert auto-dispatches.</a:t>
            </a:r>
          </a:p>
        </p:txBody>
      </p:sp>
      <p:sp>
        <p:nvSpPr>
          <p:cNvPr id="14" name="Oval 13"/>
          <p:cNvSpPr/>
          <p:nvPr/>
        </p:nvSpPr>
        <p:spPr>
          <a:xfrm>
            <a:off x="868680" y="5276088"/>
            <a:ext cx="146304" cy="146304"/>
          </a:xfrm>
          <a:prstGeom prst="ellipse">
            <a:avLst/>
          </a:prstGeom>
          <a:solidFill>
            <a:srgbClr val="1086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88720" y="5184648"/>
            <a:ext cx="67665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200"/>
              </a:spcAft>
            </a:pPr>
            <a:r>
              <a:rPr sz="1550" b="1" i="0">
                <a:solidFill>
                  <a:srgbClr val="25121B"/>
                </a:solidFill>
                <a:latin typeface="Calibri"/>
              </a:rPr>
              <a:t>Built for the abusive home</a:t>
            </a:r>
            <a:r>
              <a:rPr sz="1550" b="0" i="0">
                <a:solidFill>
                  <a:srgbClr val="6F5B65"/>
                </a:solidFill>
                <a:latin typeface="Calibri"/>
              </a:rPr>
              <a:t>  — invisible to an abuser who checks her phone.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0" y="2697480"/>
            <a:ext cx="3108960" cy="2743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A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49640" y="3063240"/>
            <a:ext cx="2514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 spc="10">
                <a:solidFill>
                  <a:srgbClr val="108673"/>
                </a:solidFill>
                <a:latin typeface="Calibri"/>
              </a:rPr>
              <a:t>THE THREAT IT BEATS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49640" y="3520440"/>
            <a:ext cx="251460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25121B"/>
                </a:solidFill>
                <a:latin typeface="Cambria"/>
              </a:rPr>
              <a:t>If the app is visible, she is at risk.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EEE4D9"/>
              </a:gs>
              <a:gs pos="100000">
                <a:srgbClr val="FCFAFB"/>
              </a:gs>
            </a:gsLst>
            <a:lin scaled="0" ang="147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 spc="22">
                <a:solidFill>
                  <a:srgbClr val="D2336A"/>
                </a:solidFill>
                <a:latin typeface="Calibri"/>
              </a:rPr>
              <a:t>THE ECOSYSTEM  ·  TOOL</a:t>
            </a:r>
          </a:p>
        </p:txBody>
      </p:sp>
      <p:sp>
        <p:nvSpPr>
          <p:cNvPr id="4" name="Oval 3"/>
          <p:cNvSpPr/>
          <p:nvPr/>
        </p:nvSpPr>
        <p:spPr>
          <a:xfrm>
            <a:off x="822960" y="1051560"/>
            <a:ext cx="868680" cy="868680"/>
          </a:xfrm>
          <a:prstGeom prst="ellipse">
            <a:avLst/>
          </a:prstGeom>
          <a:solidFill>
            <a:srgbClr val="AD79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033271"/>
            <a:ext cx="868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3000" b="1" i="0">
                <a:solidFill>
                  <a:srgbClr val="FFFFFF"/>
                </a:solidFill>
                <a:latin typeface="Cambria"/>
              </a:rPr>
              <a:t>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74519" y="1078992"/>
            <a:ext cx="7772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3600" b="1" i="0">
                <a:solidFill>
                  <a:srgbClr val="25121B"/>
                </a:solidFill>
                <a:latin typeface="Cambria"/>
              </a:rPr>
              <a:t>Salmin  ·  *384*89056#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74519" y="1847088"/>
            <a:ext cx="7772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AD7916"/>
                </a:solidFill>
                <a:latin typeface="Calibri"/>
              </a:rPr>
              <a:t>Reaching every phone, not just smartphones</a:t>
            </a:r>
          </a:p>
        </p:txBody>
      </p:sp>
      <p:sp>
        <p:nvSpPr>
          <p:cNvPr id="8" name="Oval 7"/>
          <p:cNvSpPr/>
          <p:nvPr/>
        </p:nvSpPr>
        <p:spPr>
          <a:xfrm>
            <a:off x="868680" y="2752344"/>
            <a:ext cx="146304" cy="146304"/>
          </a:xfrm>
          <a:prstGeom prst="ellipse">
            <a:avLst/>
          </a:prstGeom>
          <a:solidFill>
            <a:srgbClr val="AD79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2660904"/>
            <a:ext cx="67665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200"/>
              </a:spcAft>
            </a:pPr>
            <a:r>
              <a:rPr sz="1550" b="1" i="0">
                <a:solidFill>
                  <a:srgbClr val="25121B"/>
                </a:solidFill>
                <a:latin typeface="Calibri"/>
              </a:rPr>
              <a:t>USSD, no internet, no app</a:t>
            </a:r>
            <a:r>
              <a:rPr sz="1550" b="0" i="0">
                <a:solidFill>
                  <a:srgbClr val="6F5B65"/>
                </a:solidFill>
                <a:latin typeface="Calibri"/>
              </a:rPr>
              <a:t>  — works on the simplest feature phone.</a:t>
            </a:r>
          </a:p>
        </p:txBody>
      </p:sp>
      <p:sp>
        <p:nvSpPr>
          <p:cNvPr id="10" name="Oval 9"/>
          <p:cNvSpPr/>
          <p:nvPr/>
        </p:nvSpPr>
        <p:spPr>
          <a:xfrm>
            <a:off x="868680" y="3593592"/>
            <a:ext cx="146304" cy="146304"/>
          </a:xfrm>
          <a:prstGeom prst="ellipse">
            <a:avLst/>
          </a:prstGeom>
          <a:solidFill>
            <a:srgbClr val="AD79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88720" y="3502152"/>
            <a:ext cx="67665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200"/>
              </a:spcAft>
            </a:pPr>
            <a:r>
              <a:rPr sz="1550" b="1" i="0">
                <a:solidFill>
                  <a:srgbClr val="25121B"/>
                </a:solidFill>
                <a:latin typeface="Calibri"/>
              </a:rPr>
              <a:t>Bilingual from the first menu</a:t>
            </a:r>
            <a:r>
              <a:rPr sz="1550" b="0" i="0">
                <a:solidFill>
                  <a:srgbClr val="6F5B65"/>
                </a:solidFill>
                <a:latin typeface="Calibri"/>
              </a:rPr>
              <a:t>  — Swahili or English, full control under stress.</a:t>
            </a:r>
          </a:p>
        </p:txBody>
      </p:sp>
      <p:sp>
        <p:nvSpPr>
          <p:cNvPr id="12" name="Oval 11"/>
          <p:cNvSpPr/>
          <p:nvPr/>
        </p:nvSpPr>
        <p:spPr>
          <a:xfrm>
            <a:off x="868680" y="4434840"/>
            <a:ext cx="146304" cy="146304"/>
          </a:xfrm>
          <a:prstGeom prst="ellipse">
            <a:avLst/>
          </a:prstGeom>
          <a:solidFill>
            <a:srgbClr val="AD79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88720" y="4343400"/>
            <a:ext cx="67665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200"/>
              </a:spcAft>
            </a:pPr>
            <a:r>
              <a:rPr sz="1550" b="1" i="0">
                <a:solidFill>
                  <a:srgbClr val="25121B"/>
                </a:solidFill>
                <a:latin typeface="Calibri"/>
              </a:rPr>
              <a:t>I-am-in-danger option</a:t>
            </a:r>
            <a:r>
              <a:rPr sz="1550" b="0" i="0">
                <a:solidFill>
                  <a:srgbClr val="6F5B65"/>
                </a:solidFill>
                <a:latin typeface="Calibri"/>
              </a:rPr>
              <a:t>  — fires a community alert in the background.</a:t>
            </a:r>
          </a:p>
        </p:txBody>
      </p:sp>
      <p:sp>
        <p:nvSpPr>
          <p:cNvPr id="14" name="Oval 13"/>
          <p:cNvSpPr/>
          <p:nvPr/>
        </p:nvSpPr>
        <p:spPr>
          <a:xfrm>
            <a:off x="868680" y="5276088"/>
            <a:ext cx="146304" cy="146304"/>
          </a:xfrm>
          <a:prstGeom prst="ellipse">
            <a:avLst/>
          </a:prstGeom>
          <a:solidFill>
            <a:srgbClr val="AD79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88720" y="5184648"/>
            <a:ext cx="67665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200"/>
              </a:spcAft>
            </a:pPr>
            <a:r>
              <a:rPr sz="1550" b="1" i="0">
                <a:solidFill>
                  <a:srgbClr val="25121B"/>
                </a:solidFill>
                <a:latin typeface="Calibri"/>
              </a:rPr>
              <a:t>Costs Ksh 1.25 a session</a:t>
            </a:r>
            <a:r>
              <a:rPr sz="1550" b="0" i="0">
                <a:solidFill>
                  <a:srgbClr val="6F5B65"/>
                </a:solidFill>
                <a:latin typeface="Calibri"/>
              </a:rPr>
              <a:t>  — less than a single SMS.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0" y="2697480"/>
            <a:ext cx="3108960" cy="2743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A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49640" y="3063240"/>
            <a:ext cx="2514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 spc="10">
                <a:solidFill>
                  <a:srgbClr val="AD7916"/>
                </a:solidFill>
                <a:latin typeface="Calibri"/>
              </a:rPr>
              <a:t>WHO IT REACHES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49640" y="3520440"/>
            <a:ext cx="251460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25121B"/>
                </a:solidFill>
                <a:latin typeface="Cambria"/>
              </a:rPr>
              <a:t>~60% of adults use feature phones — apps never reach them.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EEE4D9"/>
              </a:gs>
              <a:gs pos="100000">
                <a:srgbClr val="FCFAFB"/>
              </a:gs>
            </a:gsLst>
            <a:lin scaled="0" ang="147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 spc="22">
                <a:solidFill>
                  <a:srgbClr val="AD7916"/>
                </a:solidFill>
                <a:latin typeface="Calibri"/>
              </a:rPr>
              <a:t>SALMIN  ·  USSD DESIGN PHILOSOPHY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14400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2900" b="1" i="0">
                <a:solidFill>
                  <a:srgbClr val="25121B"/>
                </a:solidFill>
                <a:latin typeface="Cambria"/>
              </a:rPr>
              <a:t>Built for the 60% that smartphones never reach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011680"/>
            <a:ext cx="3383280" cy="3154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A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" y="2304288"/>
            <a:ext cx="28346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100" b="1" i="0">
                <a:solidFill>
                  <a:srgbClr val="AD7916"/>
                </a:solidFill>
                <a:latin typeface="Cambria"/>
              </a:rPr>
              <a:t>~40% / 60%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" y="3108960"/>
            <a:ext cx="2880360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6F5B65"/>
                </a:solidFill>
                <a:latin typeface="Calibri"/>
              </a:rPr>
              <a:t>Smartphone penetration is ~40%. The other 60% — disproportionately rural, older, lower-income — live on feature phones. For an ecosystem that serves all women, USSD is not optional.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2011680"/>
            <a:ext cx="3383280" cy="3154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A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27448" y="2304288"/>
            <a:ext cx="28346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100" b="1" i="0">
                <a:solidFill>
                  <a:srgbClr val="C2520F"/>
                </a:solidFill>
                <a:latin typeface="Cambria"/>
              </a:rPr>
              <a:t>Ksh 1.25 a session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27448" y="3108960"/>
            <a:ext cx="2880360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6F5B65"/>
                </a:solidFill>
                <a:latin typeface="Calibri"/>
              </a:rPr>
              <a:t>Dial the shortcode and Africa's Talking forwards each step to a Supabase Edge Function that returns text. One session costs less than a single SMS.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2011680"/>
            <a:ext cx="3383280" cy="3154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A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39328" y="2304288"/>
            <a:ext cx="28346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100" b="1" i="0">
                <a:solidFill>
                  <a:srgbClr val="108673"/>
                </a:solidFill>
                <a:latin typeface="Cambria"/>
              </a:rPr>
              <a:t>Language is control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39328" y="3108960"/>
            <a:ext cx="2880360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6F5B65"/>
                </a:solidFill>
                <a:latin typeface="Calibri"/>
              </a:rPr>
              <a:t>Swahili or English at the very first menu — under stress a woman must navigate in the language that flows most automatically. One boolean carries it through the whole tree.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5440680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25121B"/>
                </a:solidFill>
                <a:latin typeface="Calibri"/>
              </a:rPr>
              <a:t>Session flow:  </a:t>
            </a:r>
            <a:r>
              <a:rPr sz="1250" b="0" i="0">
                <a:solidFill>
                  <a:srgbClr val="6F5B65"/>
                </a:solidFill>
                <a:latin typeface="Calibri"/>
              </a:rPr>
              <a:t>dial → Africa's Talking gateway → Supabase Edge Function → text reply — no app, no internet, works on the simplest handset.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F3DBE4"/>
              </a:gs>
              <a:gs pos="100000">
                <a:srgbClr val="FCFAFB"/>
              </a:gs>
            </a:gsLst>
            <a:lin scaled="0" ang="147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 spc="22">
                <a:solidFill>
                  <a:srgbClr val="D2336A"/>
                </a:solidFill>
                <a:latin typeface="Calibri"/>
              </a:rPr>
              <a:t>THE ECOSYSTEM  ·  TOOL</a:t>
            </a:r>
          </a:p>
        </p:txBody>
      </p:sp>
      <p:sp>
        <p:nvSpPr>
          <p:cNvPr id="4" name="Oval 3"/>
          <p:cNvSpPr/>
          <p:nvPr/>
        </p:nvSpPr>
        <p:spPr>
          <a:xfrm>
            <a:off x="822960" y="1051560"/>
            <a:ext cx="868680" cy="868680"/>
          </a:xfrm>
          <a:prstGeom prst="ellipse">
            <a:avLst/>
          </a:prstGeom>
          <a:solidFill>
            <a:srgbClr val="D233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033271"/>
            <a:ext cx="868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3000" b="1" i="0">
                <a:solidFill>
                  <a:srgbClr val="FFFFFF"/>
                </a:solidFill>
                <a:latin typeface="Cambria"/>
              </a:rPr>
              <a:t>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74519" y="1078992"/>
            <a:ext cx="7772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3600" b="1" i="0">
                <a:solidFill>
                  <a:srgbClr val="25121B"/>
                </a:solidFill>
                <a:latin typeface="Cambria"/>
              </a:rPr>
              <a:t>Red Flag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74519" y="1847088"/>
            <a:ext cx="7772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D2336A"/>
                </a:solidFill>
                <a:latin typeface="Calibri"/>
              </a:rPr>
              <a:t>Safety intelligence in the register women speak</a:t>
            </a:r>
          </a:p>
        </p:txBody>
      </p:sp>
      <p:sp>
        <p:nvSpPr>
          <p:cNvPr id="8" name="Oval 7"/>
          <p:cNvSpPr/>
          <p:nvPr/>
        </p:nvSpPr>
        <p:spPr>
          <a:xfrm>
            <a:off x="868680" y="2752344"/>
            <a:ext cx="146304" cy="146304"/>
          </a:xfrm>
          <a:prstGeom prst="ellipse">
            <a:avLst/>
          </a:prstGeom>
          <a:solidFill>
            <a:srgbClr val="D233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2660904"/>
            <a:ext cx="67665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200"/>
              </a:spcAft>
            </a:pPr>
            <a:r>
              <a:rPr sz="1550" b="1" i="0">
                <a:solidFill>
                  <a:srgbClr val="25121B"/>
                </a:solidFill>
                <a:latin typeface="Calibri"/>
              </a:rPr>
              <a:t>Tri-lingual</a:t>
            </a:r>
            <a:r>
              <a:rPr sz="1550" b="0" i="0">
                <a:solidFill>
                  <a:srgbClr val="6F5B65"/>
                </a:solidFill>
                <a:latin typeface="Calibri"/>
              </a:rPr>
              <a:t>  — English, Kiswahili &amp; Sheng, switchable any time.</a:t>
            </a:r>
          </a:p>
        </p:txBody>
      </p:sp>
      <p:sp>
        <p:nvSpPr>
          <p:cNvPr id="10" name="Oval 9"/>
          <p:cNvSpPr/>
          <p:nvPr/>
        </p:nvSpPr>
        <p:spPr>
          <a:xfrm>
            <a:off x="868680" y="3593592"/>
            <a:ext cx="146304" cy="146304"/>
          </a:xfrm>
          <a:prstGeom prst="ellipse">
            <a:avLst/>
          </a:prstGeom>
          <a:solidFill>
            <a:srgbClr val="D233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88720" y="3502152"/>
            <a:ext cx="67665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200"/>
              </a:spcAft>
            </a:pPr>
            <a:r>
              <a:rPr sz="1550" b="1" i="0">
                <a:solidFill>
                  <a:srgbClr val="25121B"/>
                </a:solidFill>
                <a:latin typeface="Calibri"/>
              </a:rPr>
              <a:t>Four archetypes</a:t>
            </a:r>
            <a:r>
              <a:rPr sz="1550" b="0" i="0">
                <a:solidFill>
                  <a:srgbClr val="6F5B65"/>
                </a:solidFill>
                <a:latin typeface="Calibri"/>
              </a:rPr>
              <a:t>  — The Naive, Precocious, All-In and On/Off.</a:t>
            </a:r>
          </a:p>
        </p:txBody>
      </p:sp>
      <p:sp>
        <p:nvSpPr>
          <p:cNvPr id="12" name="Oval 11"/>
          <p:cNvSpPr/>
          <p:nvPr/>
        </p:nvSpPr>
        <p:spPr>
          <a:xfrm>
            <a:off x="868680" y="4434840"/>
            <a:ext cx="146304" cy="146304"/>
          </a:xfrm>
          <a:prstGeom prst="ellipse">
            <a:avLst/>
          </a:prstGeom>
          <a:solidFill>
            <a:srgbClr val="D233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88720" y="4343400"/>
            <a:ext cx="67665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200"/>
              </a:spcAft>
            </a:pPr>
            <a:r>
              <a:rPr sz="1550" b="1" i="0">
                <a:solidFill>
                  <a:srgbClr val="25121B"/>
                </a:solidFill>
                <a:latin typeface="Calibri"/>
              </a:rPr>
              <a:t>JiJue, JiTume, LindaLinda</a:t>
            </a:r>
            <a:r>
              <a:rPr sz="1550" b="0" i="0">
                <a:solidFill>
                  <a:srgbClr val="6F5B65"/>
                </a:solidFill>
                <a:latin typeface="Calibri"/>
              </a:rPr>
              <a:t>  — know yourself, take action, protect &amp; share.</a:t>
            </a:r>
          </a:p>
        </p:txBody>
      </p:sp>
      <p:sp>
        <p:nvSpPr>
          <p:cNvPr id="14" name="Oval 13"/>
          <p:cNvSpPr/>
          <p:nvPr/>
        </p:nvSpPr>
        <p:spPr>
          <a:xfrm>
            <a:off x="868680" y="5276088"/>
            <a:ext cx="146304" cy="146304"/>
          </a:xfrm>
          <a:prstGeom prst="ellipse">
            <a:avLst/>
          </a:prstGeom>
          <a:solidFill>
            <a:srgbClr val="D233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88720" y="5184648"/>
            <a:ext cx="67665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200"/>
              </a:spcAft>
            </a:pPr>
            <a:r>
              <a:rPr sz="1550" b="1" i="0">
                <a:solidFill>
                  <a:srgbClr val="25121B"/>
                </a:solidFill>
                <a:latin typeface="Calibri"/>
              </a:rPr>
              <a:t>Floating SOS</a:t>
            </a:r>
            <a:r>
              <a:rPr sz="1550" b="0" i="0">
                <a:solidFill>
                  <a:srgbClr val="6F5B65"/>
                </a:solidFill>
                <a:latin typeface="Calibri"/>
              </a:rPr>
              <a:t>  — a hold dispatches a community responder.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0" y="2697480"/>
            <a:ext cx="3108960" cy="2743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A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49640" y="3063240"/>
            <a:ext cx="2514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 spc="10">
                <a:solidFill>
                  <a:srgbClr val="D2336A"/>
                </a:solidFill>
                <a:latin typeface="Calibri"/>
              </a:rPr>
              <a:t>WHY ARCHETYPES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49640" y="3520440"/>
            <a:ext cx="251460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25121B"/>
                </a:solidFill>
                <a:latin typeface="Cambria"/>
              </a:rPr>
              <a:t>Generic advice resonates with no one. The data showed specific vulnerabilities at specific life stages.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F3DBE4"/>
              </a:gs>
              <a:gs pos="100000">
                <a:srgbClr val="FCFAFB"/>
              </a:gs>
            </a:gsLst>
            <a:lin scaled="0" ang="147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 spc="22">
                <a:solidFill>
                  <a:srgbClr val="D2336A"/>
                </a:solidFill>
                <a:latin typeface="Calibri"/>
              </a:rPr>
              <a:t>RED FLAG  ·  THE ARCHETYPE FRAMEWORK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41248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25121B"/>
                </a:solidFill>
                <a:latin typeface="Cambria"/>
              </a:rPr>
              <a:t>Four archetypes, four sets of red flags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426464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6F5B65"/>
                </a:solidFill>
                <a:latin typeface="Calibri"/>
              </a:rPr>
              <a:t>Generic safety advice resonates with no one — the case data showed specific vulnerabilities at specific life transitions.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993392"/>
            <a:ext cx="5166360" cy="190195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A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33856" y="2212848"/>
            <a:ext cx="3840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D2336A"/>
                </a:solidFill>
                <a:latin typeface="Cambria"/>
              </a:rPr>
              <a:t>The Naive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" y="2615184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 spc="3">
                <a:solidFill>
                  <a:srgbClr val="25121B"/>
                </a:solidFill>
                <a:latin typeface="Calibri"/>
              </a:rPr>
              <a:t>17–19 · school leavers &amp; first-years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" y="2944368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D2336A"/>
                </a:solidFill>
                <a:latin typeface="Calibri"/>
              </a:rPr>
              <a:t>Vulnerability: information asymmetry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" y="3273552"/>
            <a:ext cx="45720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6F5B65"/>
                </a:solidFill>
                <a:latin typeface="Calibri"/>
              </a:rPr>
              <a:t>Red flags: isolation tactics, drink-monitoring, tracking disguised as attention, the 'you're not like other girls' line.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1993392"/>
            <a:ext cx="5166360" cy="190195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A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83096" y="2212848"/>
            <a:ext cx="3840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C2520F"/>
                </a:solidFill>
                <a:latin typeface="Cambria"/>
              </a:rPr>
              <a:t>The Precocious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83096" y="2615184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 spc="3">
                <a:solidFill>
                  <a:srgbClr val="25121B"/>
                </a:solidFill>
                <a:latin typeface="Calibri"/>
              </a:rPr>
              <a:t>21–23 · third-years &amp; early graduates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83096" y="2944368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C2520F"/>
                </a:solidFill>
                <a:latin typeface="Calibri"/>
              </a:rPr>
              <a:t>Vulnerability: the offer of access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83096" y="3273552"/>
            <a:ext cx="45720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6F5B65"/>
                </a:solidFill>
                <a:latin typeface="Calibri"/>
              </a:rPr>
              <a:t>Red flags: lifestyle access, an older-man dynamic, transactional gifts, gradual isolation from female friends.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3986784"/>
            <a:ext cx="5166360" cy="190195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A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33856" y="4206240"/>
            <a:ext cx="3840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6A4BCF"/>
                </a:solidFill>
                <a:latin typeface="Cambria"/>
              </a:rPr>
              <a:t>The All-In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" y="4608576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 spc="3">
                <a:solidFill>
                  <a:srgbClr val="25121B"/>
                </a:solidFill>
                <a:latin typeface="Calibri"/>
              </a:rPr>
              <a:t>24–27 · graduates &amp; junior professionals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33856" y="4937760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6A4BCF"/>
                </a:solidFill>
                <a:latin typeface="Calibri"/>
              </a:rPr>
              <a:t>Vulnerability: no documentation or exit plan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33856" y="5266944"/>
            <a:ext cx="45720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6F5B65"/>
                </a:solidFill>
                <a:latin typeface="Calibri"/>
              </a:rPr>
              <a:t>Red flags: secrecy, an identity that can't be verified, financial dependency without formal security.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986784"/>
            <a:ext cx="5166360" cy="190195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A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83096" y="4206240"/>
            <a:ext cx="3840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108673"/>
                </a:solidFill>
                <a:latin typeface="Cambria"/>
              </a:rPr>
              <a:t>The On/Off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83096" y="4608576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 spc="3">
                <a:solidFill>
                  <a:srgbClr val="25121B"/>
                </a:solidFill>
                <a:latin typeface="Calibri"/>
              </a:rPr>
              <a:t>25–40 · co-parents &amp; on/off partners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83096" y="4937760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08673"/>
                </a:solidFill>
                <a:latin typeface="Calibri"/>
              </a:rPr>
              <a:t>Vulnerability: the pattern built to keep her there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83096" y="5266944"/>
            <a:ext cx="45720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6F5B65"/>
                </a:solidFill>
                <a:latin typeface="Calibri"/>
              </a:rPr>
              <a:t>'Vumbi la Zamani' — the dust of the past that keeps blowing back. She has left before; the design pulls her back.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" y="6053328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1">
                <a:solidFill>
                  <a:srgbClr val="6F5B65"/>
                </a:solidFill>
                <a:latin typeface="Calibri"/>
              </a:rPr>
              <a:t>Delivered tri-lingually — English · Kiswahili · Sheng — so descriptions read in the register the women most at risk actually speak.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DAE8E1"/>
              </a:gs>
              <a:gs pos="100000">
                <a:srgbClr val="FCFAFB"/>
              </a:gs>
            </a:gsLst>
            <a:lin scaled="0" ang="147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 spc="22">
                <a:solidFill>
                  <a:srgbClr val="D2336A"/>
                </a:solidFill>
                <a:latin typeface="Calibri"/>
              </a:rPr>
              <a:t>THE ECOSYSTEM  ·  TOOL</a:t>
            </a:r>
          </a:p>
        </p:txBody>
      </p:sp>
      <p:sp>
        <p:nvSpPr>
          <p:cNvPr id="4" name="Oval 3"/>
          <p:cNvSpPr/>
          <p:nvPr/>
        </p:nvSpPr>
        <p:spPr>
          <a:xfrm>
            <a:off x="822960" y="1051560"/>
            <a:ext cx="868680" cy="868680"/>
          </a:xfrm>
          <a:prstGeom prst="ellipse">
            <a:avLst/>
          </a:prstGeom>
          <a:solidFill>
            <a:srgbClr val="1896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033271"/>
            <a:ext cx="868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3000" b="1" i="0">
                <a:solidFill>
                  <a:srgbClr val="FFFFFF"/>
                </a:solidFill>
                <a:latin typeface="Cambria"/>
              </a:rPr>
              <a:t>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74519" y="1078992"/>
            <a:ext cx="7772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3600" b="1" i="0">
                <a:solidFill>
                  <a:srgbClr val="25121B"/>
                </a:solidFill>
                <a:latin typeface="Cambria"/>
              </a:rPr>
              <a:t>Itika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74519" y="1847088"/>
            <a:ext cx="7772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189655"/>
                </a:solidFill>
                <a:latin typeface="Calibri"/>
              </a:rPr>
              <a:t>Closing the gap before help arrives</a:t>
            </a:r>
          </a:p>
        </p:txBody>
      </p:sp>
      <p:sp>
        <p:nvSpPr>
          <p:cNvPr id="8" name="Oval 7"/>
          <p:cNvSpPr/>
          <p:nvPr/>
        </p:nvSpPr>
        <p:spPr>
          <a:xfrm>
            <a:off x="868680" y="2752344"/>
            <a:ext cx="146304" cy="146304"/>
          </a:xfrm>
          <a:prstGeom prst="ellipse">
            <a:avLst/>
          </a:prstGeom>
          <a:solidFill>
            <a:srgbClr val="1896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2660904"/>
            <a:ext cx="67665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200"/>
              </a:spcAft>
            </a:pPr>
            <a:r>
              <a:rPr sz="1550" b="1" i="0">
                <a:solidFill>
                  <a:srgbClr val="25121B"/>
                </a:solidFill>
                <a:latin typeface="Calibri"/>
              </a:rPr>
              <a:t>Boda-boda riders at the centre</a:t>
            </a:r>
            <a:r>
              <a:rPr sz="1550" b="0" i="0">
                <a:solidFill>
                  <a:srgbClr val="6F5B65"/>
                </a:solidFill>
                <a:latin typeface="Calibri"/>
              </a:rPr>
              <a:t>  — Kenya's fastest responders, all 47 counties via BSAK.</a:t>
            </a:r>
          </a:p>
        </p:txBody>
      </p:sp>
      <p:sp>
        <p:nvSpPr>
          <p:cNvPr id="10" name="Oval 9"/>
          <p:cNvSpPr/>
          <p:nvPr/>
        </p:nvSpPr>
        <p:spPr>
          <a:xfrm>
            <a:off x="868680" y="3593592"/>
            <a:ext cx="146304" cy="146304"/>
          </a:xfrm>
          <a:prstGeom prst="ellipse">
            <a:avLst/>
          </a:prstGeom>
          <a:solidFill>
            <a:srgbClr val="1896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88720" y="3502152"/>
            <a:ext cx="67665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200"/>
              </a:spcAft>
            </a:pPr>
            <a:r>
              <a:rPr sz="1550" b="1" i="0">
                <a:solidFill>
                  <a:srgbClr val="25121B"/>
                </a:solidFill>
                <a:latin typeface="Calibri"/>
              </a:rPr>
              <a:t>Before, alongside, after</a:t>
            </a:r>
            <a:r>
              <a:rPr sz="1550" b="0" i="0">
                <a:solidFill>
                  <a:srgbClr val="6F5B65"/>
                </a:solidFill>
                <a:latin typeface="Calibri"/>
              </a:rPr>
              <a:t>  — faster than police, accompaniment, referral.</a:t>
            </a:r>
          </a:p>
        </p:txBody>
      </p:sp>
      <p:sp>
        <p:nvSpPr>
          <p:cNvPr id="12" name="Oval 11"/>
          <p:cNvSpPr/>
          <p:nvPr/>
        </p:nvSpPr>
        <p:spPr>
          <a:xfrm>
            <a:off x="868680" y="4434840"/>
            <a:ext cx="146304" cy="146304"/>
          </a:xfrm>
          <a:prstGeom prst="ellipse">
            <a:avLst/>
          </a:prstGeom>
          <a:solidFill>
            <a:srgbClr val="1896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88720" y="4343400"/>
            <a:ext cx="67665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200"/>
              </a:spcAft>
            </a:pPr>
            <a:r>
              <a:rPr sz="1550" b="1" i="0">
                <a:solidFill>
                  <a:srgbClr val="25121B"/>
                </a:solidFill>
                <a:latin typeface="Calibri"/>
              </a:rPr>
              <a:t>Verification gate</a:t>
            </a:r>
            <a:r>
              <a:rPr sz="1550" b="0" i="0">
                <a:solidFill>
                  <a:srgbClr val="6F5B65"/>
                </a:solidFill>
                <a:latin typeface="Calibri"/>
              </a:rPr>
              <a:t>  — no alerts until identity &amp; training confirmed.</a:t>
            </a:r>
          </a:p>
        </p:txBody>
      </p:sp>
      <p:sp>
        <p:nvSpPr>
          <p:cNvPr id="14" name="Oval 13"/>
          <p:cNvSpPr/>
          <p:nvPr/>
        </p:nvSpPr>
        <p:spPr>
          <a:xfrm>
            <a:off x="868680" y="5276088"/>
            <a:ext cx="146304" cy="146304"/>
          </a:xfrm>
          <a:prstGeom prst="ellipse">
            <a:avLst/>
          </a:prstGeom>
          <a:solidFill>
            <a:srgbClr val="1896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88720" y="5184648"/>
            <a:ext cx="67665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200"/>
              </a:spcAft>
            </a:pPr>
            <a:r>
              <a:rPr sz="1550" b="1" i="0">
                <a:solidFill>
                  <a:srgbClr val="25121B"/>
                </a:solidFill>
                <a:latin typeface="Calibri"/>
              </a:rPr>
              <a:t>Instant push dispatch</a:t>
            </a:r>
            <a:r>
              <a:rPr sz="1550" b="0" i="0">
                <a:solidFill>
                  <a:srgbClr val="6F5B65"/>
                </a:solidFill>
                <a:latin typeface="Calibri"/>
              </a:rPr>
              <a:t>  — VAPID/FCM, county-routed in real time.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0" y="2697480"/>
            <a:ext cx="3108960" cy="2743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A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49640" y="3063240"/>
            <a:ext cx="2514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 spc="10">
                <a:solidFill>
                  <a:srgbClr val="189655"/>
                </a:solidFill>
                <a:latin typeface="Calibri"/>
              </a:rPr>
              <a:t>THE GAP IT CLOSES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49640" y="3520440"/>
            <a:ext cx="251460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25121B"/>
                </a:solidFill>
                <a:latin typeface="Cambria"/>
              </a:rPr>
              <a:t>Between a distress signal and trained help is where women die.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DAE8E1"/>
              </a:gs>
              <a:gs pos="100000">
                <a:srgbClr val="FCFAFB"/>
              </a:gs>
            </a:gsLst>
            <a:lin scaled="0" ang="147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 spc="22">
                <a:solidFill>
                  <a:srgbClr val="189655"/>
                </a:solidFill>
                <a:latin typeface="Calibri"/>
              </a:rPr>
              <a:t>ITIKA  ·  THEORY OF CHANGE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14400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2800" b="1" i="0">
                <a:solidFill>
                  <a:srgbClr val="25121B"/>
                </a:solidFill>
                <a:latin typeface="Cambria"/>
              </a:rPr>
              <a:t>The community layer that arrives before help does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011680"/>
            <a:ext cx="6080760" cy="10789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1896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194560"/>
            <a:ext cx="2194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 spc="8">
                <a:solidFill>
                  <a:srgbClr val="189655"/>
                </a:solidFill>
                <a:latin typeface="Calibri"/>
              </a:rPr>
              <a:t>BEFORE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514600"/>
            <a:ext cx="5532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6F5B65"/>
                </a:solidFill>
                <a:latin typeface="Calibri"/>
              </a:rPr>
              <a:t>A verified responder reaches her faster than police, assesses with GBV training, and provides immediate safety and accompaniment.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3236976"/>
            <a:ext cx="6080760" cy="10789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AD79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3419856"/>
            <a:ext cx="2194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 spc="8">
                <a:solidFill>
                  <a:srgbClr val="AD7916"/>
                </a:solidFill>
                <a:latin typeface="Calibri"/>
              </a:rPr>
              <a:t>ALONGSIDE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739896"/>
            <a:ext cx="5532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6F5B65"/>
                </a:solidFill>
                <a:latin typeface="Calibri"/>
              </a:rPr>
              <a:t>A responder accompanies her to the station so she is never processed alone — and documents the interaction.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4462272"/>
            <a:ext cx="6080760" cy="10789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D233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4645152"/>
            <a:ext cx="2194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 spc="8">
                <a:solidFill>
                  <a:srgbClr val="D2336A"/>
                </a:solidFill>
                <a:latin typeface="Calibri"/>
              </a:rPr>
              <a:t>AFTER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4965192"/>
            <a:ext cx="5532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6F5B65"/>
                </a:solidFill>
                <a:latin typeface="Calibri"/>
              </a:rPr>
              <a:t>Referral to legal aid (FIDA, Kituo cha Sheria), medical care (GVRC) and psychosocial support, with case follow-up.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78040" y="2011680"/>
            <a:ext cx="4160520" cy="362102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7780">
            <a:solidFill>
              <a:srgbClr val="1896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98079" y="2286000"/>
            <a:ext cx="3566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 spc="10">
                <a:solidFill>
                  <a:srgbClr val="189655"/>
                </a:solidFill>
                <a:latin typeface="Calibri"/>
              </a:rPr>
              <a:t>WHY BODA-BODA RIDERS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79" y="2724912"/>
            <a:ext cx="3566160" cy="2834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25121B"/>
                </a:solidFill>
                <a:latin typeface="Calibri"/>
              </a:rPr>
              <a:t>Kenya's fastest first responders — faster than ambulances or police, at all hours, with intimate local geography and community trust.</a:t>
            </a:r>
          </a:p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200"/>
              </a:spcAft>
            </a:pPr>
            <a:r>
              <a:rPr sz="500" b="0" i="0">
                <a:solidFill>
                  <a:srgbClr val="6F5B65"/>
                </a:solidFill>
                <a:latin typeface="Calibri"/>
              </a:rPr>
              <a:t/>
            </a:r>
          </a:p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6F5B65"/>
                </a:solidFill>
                <a:latin typeface="Calibri"/>
              </a:rPr>
              <a:t>BSAK has vetted county chapters across all 47 counties — existing networks, training capacity and trust. Itika plugs in; it doesn't rebuild.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5870448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6F5B65"/>
                </a:solidFill>
                <a:latin typeface="Calibri"/>
              </a:rPr>
              <a:t>The gap between a distress signal and trained help </a:t>
            </a:r>
            <a:r>
              <a:rPr sz="1250" b="1" i="0">
                <a:solidFill>
                  <a:srgbClr val="25121B"/>
                </a:solidFill>
                <a:latin typeface="Calibri"/>
              </a:rPr>
              <a:t>is where women die</a:t>
            </a:r>
            <a:r>
              <a:rPr sz="1250" b="0" i="0">
                <a:solidFill>
                  <a:srgbClr val="6F5B65"/>
                </a:solidFill>
                <a:latin typeface="Calibri"/>
              </a:rPr>
              <a:t> — Itika doesn't replace the police; it closes that gap.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E5DEF1"/>
              </a:gs>
              <a:gs pos="100000">
                <a:srgbClr val="FCFAFB"/>
              </a:gs>
            </a:gsLst>
            <a:lin scaled="0" ang="147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 spc="22">
                <a:solidFill>
                  <a:srgbClr val="D2336A"/>
                </a:solidFill>
                <a:latin typeface="Calibri"/>
              </a:rPr>
              <a:t>THE ECOSYSTEM  ·  TOOL</a:t>
            </a:r>
          </a:p>
        </p:txBody>
      </p:sp>
      <p:sp>
        <p:nvSpPr>
          <p:cNvPr id="4" name="Oval 3"/>
          <p:cNvSpPr/>
          <p:nvPr/>
        </p:nvSpPr>
        <p:spPr>
          <a:xfrm>
            <a:off x="822960" y="1051560"/>
            <a:ext cx="868680" cy="868680"/>
          </a:xfrm>
          <a:prstGeom prst="ellipse">
            <a:avLst/>
          </a:prstGeom>
          <a:solidFill>
            <a:srgbClr val="6A4B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033271"/>
            <a:ext cx="868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3000" b="1" i="0">
                <a:solidFill>
                  <a:srgbClr val="FFFFFF"/>
                </a:solidFill>
                <a:latin typeface="Cambria"/>
              </a:rPr>
              <a:t>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74519" y="1078992"/>
            <a:ext cx="7772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3600" b="1" i="0">
                <a:solidFill>
                  <a:srgbClr val="25121B"/>
                </a:solidFill>
                <a:latin typeface="Cambria"/>
              </a:rPr>
              <a:t>SaInt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74519" y="1847088"/>
            <a:ext cx="7772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6A4BCF"/>
                </a:solidFill>
                <a:latin typeface="Calibri"/>
              </a:rPr>
              <a:t>The intelligence &amp; fundraising desk</a:t>
            </a:r>
          </a:p>
        </p:txBody>
      </p:sp>
      <p:sp>
        <p:nvSpPr>
          <p:cNvPr id="8" name="Oval 7"/>
          <p:cNvSpPr/>
          <p:nvPr/>
        </p:nvSpPr>
        <p:spPr>
          <a:xfrm>
            <a:off x="868680" y="2752344"/>
            <a:ext cx="146304" cy="146304"/>
          </a:xfrm>
          <a:prstGeom prst="ellipse">
            <a:avLst/>
          </a:prstGeom>
          <a:solidFill>
            <a:srgbClr val="6A4B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2660904"/>
            <a:ext cx="67665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200"/>
              </a:spcAft>
            </a:pPr>
            <a:r>
              <a:rPr sz="1550" b="1" i="0">
                <a:solidFill>
                  <a:srgbClr val="25121B"/>
                </a:solidFill>
                <a:latin typeface="Calibri"/>
              </a:rPr>
              <a:t>For funders &amp; policymakers</a:t>
            </a:r>
            <a:r>
              <a:rPr sz="1550" b="0" i="0">
                <a:solidFill>
                  <a:srgbClr val="6F5B65"/>
                </a:solidFill>
                <a:latin typeface="Calibri"/>
              </a:rPr>
              <a:t>  — explore the pipeline and live field intelligence.</a:t>
            </a:r>
          </a:p>
        </p:txBody>
      </p:sp>
      <p:sp>
        <p:nvSpPr>
          <p:cNvPr id="10" name="Oval 9"/>
          <p:cNvSpPr/>
          <p:nvPr/>
        </p:nvSpPr>
        <p:spPr>
          <a:xfrm>
            <a:off x="868680" y="3593592"/>
            <a:ext cx="146304" cy="146304"/>
          </a:xfrm>
          <a:prstGeom prst="ellipse">
            <a:avLst/>
          </a:prstGeom>
          <a:solidFill>
            <a:srgbClr val="6A4B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88720" y="3502152"/>
            <a:ext cx="67665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200"/>
              </a:spcAft>
            </a:pPr>
            <a:r>
              <a:rPr sz="1550" b="1" i="0">
                <a:solidFill>
                  <a:srgbClr val="25121B"/>
                </a:solidFill>
                <a:latin typeface="Calibri"/>
              </a:rPr>
              <a:t>AI-powered synthesis</a:t>
            </a:r>
            <a:r>
              <a:rPr sz="1550" b="0" i="0">
                <a:solidFill>
                  <a:srgbClr val="6F5B65"/>
                </a:solidFill>
                <a:latin typeface="Calibri"/>
              </a:rPr>
              <a:t>  — a 3-sentence funder briefing from live data.</a:t>
            </a:r>
          </a:p>
        </p:txBody>
      </p:sp>
      <p:sp>
        <p:nvSpPr>
          <p:cNvPr id="12" name="Oval 11"/>
          <p:cNvSpPr/>
          <p:nvPr/>
        </p:nvSpPr>
        <p:spPr>
          <a:xfrm>
            <a:off x="868680" y="4434840"/>
            <a:ext cx="146304" cy="146304"/>
          </a:xfrm>
          <a:prstGeom prst="ellipse">
            <a:avLst/>
          </a:prstGeom>
          <a:solidFill>
            <a:srgbClr val="6A4B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88720" y="4343400"/>
            <a:ext cx="67665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200"/>
              </a:spcAft>
            </a:pPr>
            <a:r>
              <a:rPr sz="1550" b="1" i="0">
                <a:solidFill>
                  <a:srgbClr val="25121B"/>
                </a:solidFill>
                <a:latin typeface="Calibri"/>
              </a:rPr>
              <a:t>Intel, Projects, Briefs, About</a:t>
            </a:r>
            <a:r>
              <a:rPr sz="1550" b="0" i="0">
                <a:solidFill>
                  <a:srgbClr val="6F5B65"/>
                </a:solidFill>
                <a:latin typeface="Calibri"/>
              </a:rPr>
              <a:t>  — ten projects across Understand/Interrupt/Build.</a:t>
            </a:r>
          </a:p>
        </p:txBody>
      </p:sp>
      <p:sp>
        <p:nvSpPr>
          <p:cNvPr id="14" name="Oval 13"/>
          <p:cNvSpPr/>
          <p:nvPr/>
        </p:nvSpPr>
        <p:spPr>
          <a:xfrm>
            <a:off x="868680" y="5276088"/>
            <a:ext cx="146304" cy="146304"/>
          </a:xfrm>
          <a:prstGeom prst="ellipse">
            <a:avLst/>
          </a:prstGeom>
          <a:solidFill>
            <a:srgbClr val="6A4B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88720" y="5184648"/>
            <a:ext cx="67665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200"/>
              </a:spcAft>
            </a:pPr>
            <a:r>
              <a:rPr sz="1550" b="1" i="0">
                <a:solidFill>
                  <a:srgbClr val="25121B"/>
                </a:solidFill>
                <a:latin typeface="Calibri"/>
              </a:rPr>
              <a:t>Captures funding interest</a:t>
            </a:r>
            <a:r>
              <a:rPr sz="1550" b="0" i="0">
                <a:solidFill>
                  <a:srgbClr val="6F5B65"/>
                </a:solidFill>
                <a:latin typeface="Calibri"/>
              </a:rPr>
              <a:t>  — expressions logged with full follow-up.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0" y="2697480"/>
            <a:ext cx="3108960" cy="2743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A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49640" y="3063240"/>
            <a:ext cx="2514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 spc="10">
                <a:solidFill>
                  <a:srgbClr val="6A4BCF"/>
                </a:solidFill>
                <a:latin typeface="Calibri"/>
              </a:rPr>
              <a:t>THE WORDMARK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49640" y="3520440"/>
            <a:ext cx="251460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25121B"/>
                </a:solidFill>
                <a:latin typeface="Cambria"/>
              </a:rPr>
              <a:t>The dotted I signals an intelligence desk — not a standard platform.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DEDDEF"/>
              </a:gs>
              <a:gs pos="100000">
                <a:srgbClr val="FCFAFB"/>
              </a:gs>
            </a:gsLst>
            <a:lin scaled="0" ang="147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 spc="22">
                <a:solidFill>
                  <a:srgbClr val="D2336A"/>
                </a:solidFill>
                <a:latin typeface="Calibri"/>
              </a:rPr>
              <a:t>HOW IT CONNECTS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14400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3000" b="1" i="0">
                <a:solidFill>
                  <a:srgbClr val="25121B"/>
                </a:solidFill>
                <a:latin typeface="Cambria"/>
              </a:rPr>
              <a:t>One pathway: distress signal to community response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148840"/>
            <a:ext cx="2743200" cy="868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A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05840" y="2368296"/>
            <a:ext cx="420624" cy="420624"/>
          </a:xfrm>
          <a:prstGeom prst="ellipse">
            <a:avLst/>
          </a:prstGeom>
          <a:solidFill>
            <a:srgbClr val="1086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50008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Cambria"/>
              </a:rPr>
              <a:t>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72768" y="2148840"/>
            <a:ext cx="192024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25121B"/>
                </a:solidFill>
                <a:latin typeface="Calibri"/>
              </a:rPr>
              <a:t>hepa panic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3227832"/>
            <a:ext cx="2743200" cy="868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A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05840" y="3447288"/>
            <a:ext cx="420624" cy="420624"/>
          </a:xfrm>
          <a:prstGeom prst="ellipse">
            <a:avLst/>
          </a:prstGeom>
          <a:solidFill>
            <a:srgbClr val="D233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3429000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Cambria"/>
              </a:rPr>
              <a:t>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72768" y="3227832"/>
            <a:ext cx="192024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25121B"/>
                </a:solidFill>
                <a:latin typeface="Calibri"/>
              </a:rPr>
              <a:t>Red Flag SOS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4306824"/>
            <a:ext cx="2743200" cy="868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A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05840" y="4526280"/>
            <a:ext cx="420624" cy="420624"/>
          </a:xfrm>
          <a:prstGeom prst="ellipse">
            <a:avLst/>
          </a:prstGeom>
          <a:solidFill>
            <a:srgbClr val="AD79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4507992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Cambria"/>
              </a:rPr>
              <a:t>U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72768" y="4306824"/>
            <a:ext cx="192024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25121B"/>
                </a:solidFill>
                <a:latin typeface="Calibri"/>
              </a:rPr>
              <a:t>Salmin SOS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617720" y="2697480"/>
            <a:ext cx="2834640" cy="1463040"/>
          </a:xfrm>
          <a:prstGeom prst="roundRect">
            <a:avLst>
              <a:gd name="adj" fmla="val 6000"/>
            </a:avLst>
          </a:prstGeom>
          <a:solidFill>
            <a:srgbClr val="8A1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17720" y="2697480"/>
            <a:ext cx="2834640" cy="1463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responder_alerts</a:t>
            </a:r>
          </a:p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F0C8D2"/>
                </a:solidFill>
                <a:latin typeface="Calibri"/>
              </a:rPr>
              <a:t>one table · one schema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3566160" y="2578608"/>
            <a:ext cx="1051560" cy="850392"/>
          </a:xfrm>
          <a:prstGeom prst="bentConnector3">
            <a:avLst/>
          </a:prstGeom>
          <a:ln w="22225">
            <a:solidFill>
              <a:srgbClr val="6F5B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3566160" y="3429000"/>
            <a:ext cx="1051560" cy="228600"/>
          </a:xfrm>
          <a:prstGeom prst="bentConnector3">
            <a:avLst/>
          </a:prstGeom>
          <a:ln w="22225">
            <a:solidFill>
              <a:srgbClr val="6F5B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3566160" y="3429000"/>
            <a:ext cx="1051560" cy="1307592"/>
          </a:xfrm>
          <a:prstGeom prst="bentConnector3">
            <a:avLst/>
          </a:prstGeom>
          <a:ln w="22225">
            <a:solidFill>
              <a:srgbClr val="6F5B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8503920" y="2697480"/>
            <a:ext cx="2834640" cy="14630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896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03920" y="2697480"/>
            <a:ext cx="2834640" cy="1463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550" b="1" i="0">
                <a:solidFill>
                  <a:srgbClr val="189655"/>
                </a:solidFill>
                <a:latin typeface="Calibri"/>
              </a:rPr>
              <a:t>Itika responders</a:t>
            </a:r>
          </a:p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6F5B65"/>
                </a:solidFill>
                <a:latin typeface="Calibri"/>
              </a:rPr>
              <a:t>instant push · county-routed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452360" y="3429000"/>
            <a:ext cx="1051560" cy="0"/>
          </a:xfrm>
          <a:prstGeom prst="bentConnector3">
            <a:avLst/>
          </a:prstGeom>
          <a:ln w="28575">
            <a:solidFill>
              <a:srgbClr val="1896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822960" y="5577840"/>
            <a:ext cx="10515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6F5B65"/>
                </a:solidFill>
                <a:latin typeface="Calibri"/>
              </a:rPr>
              <a:t>Every alert carries its </a:t>
            </a:r>
            <a:r>
              <a:rPr sz="1400" b="1" i="0">
                <a:solidFill>
                  <a:srgbClr val="25121B"/>
                </a:solidFill>
                <a:latin typeface="Calibri"/>
              </a:rPr>
              <a:t>type, county and location</a:t>
            </a:r>
            <a:r>
              <a:rPr sz="1400" b="0" i="0">
                <a:solidFill>
                  <a:srgbClr val="6F5B65"/>
                </a:solidFill>
                <a:latin typeface="Calibri"/>
              </a:rPr>
              <a:t> — responders see what matters; admins calibrate the response.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F0DFD8"/>
              </a:gs>
              <a:gs pos="100000">
                <a:srgbClr val="FCFAFB"/>
              </a:gs>
            </a:gsLst>
            <a:lin scaled="0" ang="147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 spc="22">
                <a:solidFill>
                  <a:srgbClr val="D2336A"/>
                </a:solidFill>
                <a:latin typeface="Calibri"/>
              </a:rPr>
              <a:t>THE INTELLIGENCE ENGINE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14400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2900" b="1" i="0">
                <a:solidFill>
                  <a:srgbClr val="25121B"/>
                </a:solidFill>
                <a:latin typeface="Cambria"/>
              </a:rPr>
              <a:t>We track the narrative that precedes the violence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286000"/>
            <a:ext cx="3383280" cy="2468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A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606040"/>
            <a:ext cx="28346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3000" b="1" i="0">
                <a:solidFill>
                  <a:srgbClr val="C2520F"/>
                </a:solidFill>
                <a:latin typeface="Cambria"/>
              </a:rPr>
              <a:t>700+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520440"/>
            <a:ext cx="28346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6F5B65"/>
                </a:solidFill>
                <a:latin typeface="Calibri"/>
              </a:rPr>
              <a:t>articles classified by an automated scanner running every 6 hours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2286000"/>
            <a:ext cx="3383280" cy="2468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A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63440" y="2606040"/>
            <a:ext cx="28346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3000" b="1" i="0">
                <a:solidFill>
                  <a:srgbClr val="D2336A"/>
                </a:solidFill>
                <a:latin typeface="Cambria"/>
              </a:rPr>
              <a:t>Misogyny Index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63440" y="3520440"/>
            <a:ext cx="28346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6F5B65"/>
                </a:solidFill>
                <a:latin typeface="Calibri"/>
              </a:rPr>
              <a:t>a daily composite score &amp; 30-day trend of the GBV-adjacent online narrative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55279" y="2286000"/>
            <a:ext cx="3383280" cy="2468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A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2606040"/>
            <a:ext cx="28346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3000" b="1" i="0">
                <a:solidFill>
                  <a:srgbClr val="189655"/>
                </a:solidFill>
                <a:latin typeface="Cambria"/>
              </a:rPr>
              <a:t>gbv ≥ 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3520440"/>
            <a:ext cx="28346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6F5B65"/>
                </a:solidFill>
                <a:latin typeface="Calibri"/>
              </a:rPr>
              <a:t>auto-fires a case alert to the admin — high-probability cases are never missed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5257800"/>
            <a:ext cx="10515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6F5B65"/>
                </a:solidFill>
                <a:latin typeface="Calibri"/>
              </a:rPr>
              <a:t>Each article is scored for misogyny, GBV relevance, sentiment and </a:t>
            </a:r>
            <a:r>
              <a:rPr sz="1350" b="1" i="0">
                <a:solidFill>
                  <a:srgbClr val="25121B"/>
                </a:solidFill>
                <a:latin typeface="Calibri"/>
              </a:rPr>
              <a:t>tech-facilitated abuse</a:t>
            </a:r>
            <a:r>
              <a:rPr sz="1350" b="0" i="0">
                <a:solidFill>
                  <a:srgbClr val="6F5B65"/>
                </a:solidFill>
                <a:latin typeface="Calibri"/>
              </a:rPr>
              <a:t> — turning scattered headlines into a measurable signal.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F0DFD8"/>
              </a:gs>
              <a:gs pos="100000">
                <a:srgbClr val="FCFAFB"/>
              </a:gs>
            </a:gsLst>
            <a:lin scaled="0" ang="147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 spc="22">
                <a:solidFill>
                  <a:srgbClr val="C2520F"/>
                </a:solidFill>
                <a:latin typeface="Calibri"/>
              </a:rPr>
              <a:t>INTELLIGENCE ENGINE  ·  THE MISOGYNY INDEX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14400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25121B"/>
                </a:solidFill>
                <a:latin typeface="Cambria"/>
              </a:rPr>
              <a:t>Turning scattered headlines into a measurable signal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783080"/>
            <a:ext cx="6035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 spc="10">
                <a:solidFill>
                  <a:srgbClr val="6F5B65"/>
                </a:solidFill>
                <a:latin typeface="Calibri"/>
              </a:rPr>
              <a:t>EVERY ARTICLE, FOUR SCORES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240280"/>
            <a:ext cx="6035040" cy="78638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A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15568" y="2523744"/>
            <a:ext cx="164592" cy="164592"/>
          </a:xfrm>
          <a:prstGeom prst="ellipse">
            <a:avLst/>
          </a:prstGeom>
          <a:solidFill>
            <a:srgbClr val="D233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44752" y="2368296"/>
            <a:ext cx="5303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D2336A"/>
                </a:solidFill>
                <a:latin typeface="Calibri"/>
              </a:rPr>
              <a:t>misogyny_score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44752" y="2670048"/>
            <a:ext cx="5212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6F5B65"/>
                </a:solidFill>
                <a:latin typeface="Calibri"/>
              </a:rPr>
              <a:t>0–10 · how far content promotes, normalises or excuses violence against women.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3136392"/>
            <a:ext cx="6035040" cy="78638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A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115568" y="3419856"/>
            <a:ext cx="164592" cy="164592"/>
          </a:xfrm>
          <a:prstGeom prst="ellipse">
            <a:avLst/>
          </a:prstGeom>
          <a:solidFill>
            <a:srgbClr val="C252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444752" y="3264408"/>
            <a:ext cx="5303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C2520F"/>
                </a:solidFill>
                <a:latin typeface="Calibri"/>
              </a:rPr>
              <a:t>gbv_relevance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44752" y="3566160"/>
            <a:ext cx="5212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6F5B65"/>
                </a:solidFill>
                <a:latin typeface="Calibri"/>
              </a:rPr>
              <a:t>0–10 · probability it's a real GBV incident. A score ≥ 8 auto-fires a case alert to the admin.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4032504"/>
            <a:ext cx="6035040" cy="78638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A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15568" y="4315968"/>
            <a:ext cx="164592" cy="164592"/>
          </a:xfrm>
          <a:prstGeom prst="ellipse">
            <a:avLst/>
          </a:prstGeom>
          <a:solidFill>
            <a:srgbClr val="AD79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44752" y="4160520"/>
            <a:ext cx="5303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AD7916"/>
                </a:solidFill>
                <a:latin typeface="Calibri"/>
              </a:rPr>
              <a:t>sentiment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44752" y="4462272"/>
            <a:ext cx="5212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6F5B65"/>
                </a:solidFill>
                <a:latin typeface="Calibri"/>
              </a:rPr>
              <a:t>positive · neutral · negative · alarming — 'alarming' frames GBV as inevitable or justified.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4928616"/>
            <a:ext cx="6035040" cy="78638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A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115568" y="5212080"/>
            <a:ext cx="164592" cy="164592"/>
          </a:xfrm>
          <a:prstGeom prst="ellipse">
            <a:avLst/>
          </a:prstGeom>
          <a:solidFill>
            <a:srgbClr val="6A4B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44752" y="5056632"/>
            <a:ext cx="5303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6A4BCF"/>
                </a:solidFill>
                <a:latin typeface="Calibri"/>
              </a:rPr>
              <a:t>tech_facilitated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44752" y="5358384"/>
            <a:ext cx="5212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6F5B65"/>
                </a:solidFill>
                <a:latin typeface="Calibri"/>
              </a:rPr>
              <a:t>boolean · true when a digital platform is part of the abuse or perpetration pathway.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132320" y="2240280"/>
            <a:ext cx="4206240" cy="35844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7780">
            <a:solidFill>
              <a:srgbClr val="C252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52360" y="2514600"/>
            <a:ext cx="3566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 spc="10">
                <a:solidFill>
                  <a:srgbClr val="C2520F"/>
                </a:solidFill>
                <a:latin typeface="Calibri"/>
              </a:rPr>
              <a:t>THE COMPOSITE INDEX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52360" y="2944368"/>
            <a:ext cx="361188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25121B"/>
                </a:solidFill>
                <a:latin typeface="Calibri"/>
              </a:rPr>
              <a:t>After every 6-hour scan a weighted formula rolls the day's scores into one composite — stored daily and shown as a gauge plus a 30-day trend.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sz="600" b="0" i="0">
                <a:solidFill>
                  <a:srgbClr val="6F5B65"/>
                </a:solidFill>
                <a:latin typeface="Calibri"/>
              </a:rPr>
              <a:t/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6F5B65"/>
                </a:solidFill>
                <a:latin typeface="Calibri"/>
              </a:rPr>
              <a:t>Not a scientific metric — an intelligence indicator that tracks the intensity of the GBV-adjacent online narrative over time.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598932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6F5B65"/>
                </a:solidFill>
                <a:latin typeface="Calibri"/>
              </a:rPr>
              <a:t>700+ articles classified · scanner runs 00:00 · 06:00 · 12:00 · 18:00 UTC via pg_cron, sourced from Google News RSS to bypass publisher blocks.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EEE4D9"/>
              </a:gs>
              <a:gs pos="100000">
                <a:srgbClr val="FCFAFB"/>
              </a:gs>
            </a:gsLst>
            <a:lin scaled="0" ang="147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 spc="22">
                <a:solidFill>
                  <a:srgbClr val="D2336A"/>
                </a:solidFill>
                <a:latin typeface="Calibri"/>
              </a:rPr>
              <a:t>THE INTEL BRIEF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14400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2900" b="1" i="0">
                <a:solidFill>
                  <a:srgbClr val="25121B"/>
                </a:solidFill>
                <a:latin typeface="Cambria"/>
              </a:rPr>
              <a:t>A bi-weekly brief — with a human in the loop</a:t>
            </a:r>
          </a:p>
        </p:txBody>
      </p:sp>
      <p:sp>
        <p:nvSpPr>
          <p:cNvPr id="5" name="Oval 4"/>
          <p:cNvSpPr/>
          <p:nvPr/>
        </p:nvSpPr>
        <p:spPr>
          <a:xfrm>
            <a:off x="868680" y="2276856"/>
            <a:ext cx="566928" cy="566928"/>
          </a:xfrm>
          <a:prstGeom prst="ellipse">
            <a:avLst/>
          </a:prstGeom>
          <a:solidFill>
            <a:srgbClr val="C252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2276856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2200" b="1" i="0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91640" y="2240280"/>
            <a:ext cx="95097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1" i="0">
                <a:solidFill>
                  <a:srgbClr val="25121B"/>
                </a:solidFill>
                <a:latin typeface="Calibri"/>
              </a:rPr>
              <a:t>Generate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91640" y="2606040"/>
            <a:ext cx="9509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6F5B65"/>
                </a:solidFill>
                <a:latin typeface="Calibri"/>
              </a:rPr>
              <a:t>A pg_cron job drafts the brief from live data — saved as a DRAFT, never auto-published.</a:t>
            </a:r>
          </a:p>
        </p:txBody>
      </p:sp>
      <p:sp>
        <p:nvSpPr>
          <p:cNvPr id="9" name="Oval 8"/>
          <p:cNvSpPr/>
          <p:nvPr/>
        </p:nvSpPr>
        <p:spPr>
          <a:xfrm>
            <a:off x="868680" y="3264408"/>
            <a:ext cx="566928" cy="566928"/>
          </a:xfrm>
          <a:prstGeom prst="ellipse">
            <a:avLst/>
          </a:prstGeom>
          <a:solidFill>
            <a:srgbClr val="AD79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3264408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2200" b="1" i="0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91640" y="3227832"/>
            <a:ext cx="95097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1" i="0">
                <a:solidFill>
                  <a:srgbClr val="25121B"/>
                </a:solidFill>
                <a:latin typeface="Calibri"/>
              </a:rPr>
              <a:t>Review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91640" y="3593592"/>
            <a:ext cx="9509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6F5B65"/>
                </a:solidFill>
                <a:latin typeface="Calibri"/>
              </a:rPr>
              <a:t>An editor reads and edits the draft in the admin portal before anything goes live.</a:t>
            </a:r>
          </a:p>
        </p:txBody>
      </p:sp>
      <p:sp>
        <p:nvSpPr>
          <p:cNvPr id="13" name="Oval 12"/>
          <p:cNvSpPr/>
          <p:nvPr/>
        </p:nvSpPr>
        <p:spPr>
          <a:xfrm>
            <a:off x="868680" y="4251960"/>
            <a:ext cx="566928" cy="566928"/>
          </a:xfrm>
          <a:prstGeom prst="ellipse">
            <a:avLst/>
          </a:prstGeom>
          <a:solidFill>
            <a:srgbClr val="D233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4251960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2200" b="1" i="0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91640" y="4215384"/>
            <a:ext cx="95097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1" i="0">
                <a:solidFill>
                  <a:srgbClr val="25121B"/>
                </a:solidFill>
                <a:latin typeface="Calibri"/>
              </a:rPr>
              <a:t>Authenticated publish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91640" y="4581144"/>
            <a:ext cx="9509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6F5B65"/>
                </a:solidFill>
                <a:latin typeface="Calibri"/>
              </a:rPr>
              <a:t>Gated by session token + a publishers allowlist (403 otherwise).</a:t>
            </a:r>
          </a:p>
        </p:txBody>
      </p:sp>
      <p:sp>
        <p:nvSpPr>
          <p:cNvPr id="17" name="Oval 16"/>
          <p:cNvSpPr/>
          <p:nvPr/>
        </p:nvSpPr>
        <p:spPr>
          <a:xfrm>
            <a:off x="868680" y="5239512"/>
            <a:ext cx="566928" cy="566928"/>
          </a:xfrm>
          <a:prstGeom prst="ellipse">
            <a:avLst/>
          </a:prstGeom>
          <a:solidFill>
            <a:srgbClr val="1896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5239512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2200" b="1" i="0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91640" y="5202936"/>
            <a:ext cx="95097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1" i="0">
                <a:solidFill>
                  <a:srgbClr val="25121B"/>
                </a:solidFill>
                <a:latin typeface="Calibri"/>
              </a:rPr>
              <a:t>Render &amp; serve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91640" y="5568696"/>
            <a:ext cx="9509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6F5B65"/>
                </a:solidFill>
                <a:latin typeface="Calibri"/>
              </a:rPr>
              <a:t>A GitHub Action renders the PDF + a branded viewer, served from the dashboard.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E5DEF1"/>
              </a:gs>
              <a:gs pos="100000">
                <a:srgbClr val="FCFAFB"/>
              </a:gs>
            </a:gsLst>
            <a:lin scaled="0" ang="147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 spc="22">
                <a:solidFill>
                  <a:srgbClr val="D2336A"/>
                </a:solidFill>
                <a:latin typeface="Calibri"/>
              </a:rPr>
              <a:t>DESIGN PHILOSOPHY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14400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3200" b="1" i="0">
                <a:solidFill>
                  <a:srgbClr val="25121B"/>
                </a:solidFill>
                <a:latin typeface="Cambria"/>
              </a:rPr>
              <a:t>Principles, not preferences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286000"/>
            <a:ext cx="5166360" cy="1783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A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43000" y="2633472"/>
            <a:ext cx="182880" cy="182880"/>
          </a:xfrm>
          <a:prstGeom prst="ellipse">
            <a:avLst/>
          </a:prstGeom>
          <a:solidFill>
            <a:srgbClr val="D233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08760" y="2560320"/>
            <a:ext cx="4251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25121B"/>
                </a:solidFill>
                <a:latin typeface="Cambria"/>
              </a:rPr>
              <a:t>Mobile-first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08760" y="2999232"/>
            <a:ext cx="4206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6F5B65"/>
                </a:solidFill>
                <a:latin typeface="Calibri"/>
              </a:rPr>
              <a:t>Designed for a 375px screen first — every tap target, scroll and modal built for a thumb on glass.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2286000"/>
            <a:ext cx="5166360" cy="1783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A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492240" y="2633472"/>
            <a:ext cx="182880" cy="182880"/>
          </a:xfrm>
          <a:prstGeom prst="ellipse">
            <a:avLst/>
          </a:prstGeom>
          <a:solidFill>
            <a:srgbClr val="AD79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0" y="2560320"/>
            <a:ext cx="4251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25121B"/>
                </a:solidFill>
                <a:latin typeface="Cambria"/>
              </a:rPr>
              <a:t>Swahili naming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0" y="2999232"/>
            <a:ext cx="4206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6F5B65"/>
                </a:solidFill>
                <a:latin typeface="Calibri"/>
              </a:rPr>
              <a:t>JiJue, JiTume, LindaLinda, Itika — names that carry the theory of change and signal community ownership.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4297680"/>
            <a:ext cx="5166360" cy="1783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A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43000" y="4645152"/>
            <a:ext cx="182880" cy="182880"/>
          </a:xfrm>
          <a:prstGeom prst="ellipse">
            <a:avLst/>
          </a:prstGeom>
          <a:solidFill>
            <a:srgbClr val="1896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508760" y="4572000"/>
            <a:ext cx="4251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25121B"/>
                </a:solidFill>
                <a:latin typeface="Cambria"/>
              </a:rPr>
              <a:t>Dignity before data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08760" y="5010912"/>
            <a:ext cx="4206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6F5B65"/>
                </a:solidFill>
                <a:latin typeface="Calibri"/>
              </a:rPr>
              <a:t>Victim names entered by hand, memorials curated, voices moderated. No one reduced to a statistic.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72200" y="4297680"/>
            <a:ext cx="5166360" cy="1783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A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492240" y="4645152"/>
            <a:ext cx="182880" cy="182880"/>
          </a:xfrm>
          <a:prstGeom prst="ellipse">
            <a:avLst/>
          </a:prstGeom>
          <a:solidFill>
            <a:srgbClr val="6A4B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0" y="4572000"/>
            <a:ext cx="4251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25121B"/>
                </a:solidFill>
                <a:latin typeface="Cambria"/>
              </a:rPr>
              <a:t>Invite-gated safety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0" y="5010912"/>
            <a:ext cx="4206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6F5B65"/>
                </a:solidFill>
                <a:latin typeface="Calibri"/>
              </a:rPr>
              <a:t>A documented community of CSO partners — so a database of cases can't become a weapon.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DEDDEF"/>
              </a:gs>
              <a:gs pos="100000">
                <a:srgbClr val="FCFAFB"/>
              </a:gs>
            </a:gsLst>
            <a:lin scaled="0" ang="147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 spc="22">
                <a:solidFill>
                  <a:srgbClr val="D2336A"/>
                </a:solidFill>
                <a:latin typeface="Calibri"/>
              </a:rPr>
              <a:t>BUILT 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14400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3100" b="1" i="0">
                <a:solidFill>
                  <a:srgbClr val="25121B"/>
                </a:solidFill>
                <a:latin typeface="Cambria"/>
              </a:rPr>
              <a:t>A lean, modern, low-cost stack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194560"/>
            <a:ext cx="3383280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A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423160"/>
            <a:ext cx="2834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189655"/>
                </a:solidFill>
                <a:latin typeface="Calibri"/>
              </a:rPr>
              <a:t>Supabase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798064"/>
            <a:ext cx="2880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6F5B65"/>
                </a:solidFill>
                <a:latin typeface="Calibri"/>
              </a:rPr>
              <a:t>Postgres + Auth + Edge Functions + Row-Level Security — one backend for all six apps.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2194560"/>
            <a:ext cx="3383280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A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09160" y="2423160"/>
            <a:ext cx="2834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D2336A"/>
                </a:solidFill>
                <a:latin typeface="Calibri"/>
              </a:rPr>
              <a:t>Web Push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09160" y="2798064"/>
            <a:ext cx="2880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6F5B65"/>
                </a:solidFill>
                <a:latin typeface="Calibri"/>
              </a:rPr>
              <a:t>VAPID-signed, FCM-delivered emergency dispatch — instant, no polling.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2194560"/>
            <a:ext cx="3383280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A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21040" y="2423160"/>
            <a:ext cx="2834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AD7916"/>
                </a:solidFill>
                <a:latin typeface="Calibri"/>
              </a:rPr>
              <a:t>pg_cron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1040" y="2798064"/>
            <a:ext cx="2880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6F5B65"/>
                </a:solidFill>
                <a:latin typeface="Calibri"/>
              </a:rPr>
              <a:t>Scheduled scanner, health checks and brief generation — entirely in-platform.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3840480"/>
            <a:ext cx="3383280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A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4069080"/>
            <a:ext cx="2834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6A4BCF"/>
                </a:solidFill>
                <a:latin typeface="Calibri"/>
              </a:rPr>
              <a:t>GitHub + Vercel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4443984"/>
            <a:ext cx="2880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6F5B65"/>
                </a:solidFill>
                <a:latin typeface="Calibri"/>
              </a:rPr>
              <a:t>Six Vite/React apps, one repo, auto-deployed per subdomain.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434840" y="3840480"/>
            <a:ext cx="3383280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A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09160" y="4069080"/>
            <a:ext cx="2834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C2520F"/>
                </a:solidFill>
                <a:latin typeface="Calibri"/>
              </a:rPr>
              <a:t>Africa's Talking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09160" y="4443984"/>
            <a:ext cx="2880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6F5B65"/>
                </a:solidFill>
                <a:latin typeface="Calibri"/>
              </a:rPr>
              <a:t>USSD gateway for Salmin on Safaricom, Airtel &amp; Telkom.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46720" y="3840480"/>
            <a:ext cx="3383280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A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21040" y="4069080"/>
            <a:ext cx="2834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108673"/>
                </a:solidFill>
                <a:latin typeface="Calibri"/>
              </a:rPr>
              <a:t>Self-healing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21040" y="4443984"/>
            <a:ext cx="2880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6F5B65"/>
                </a:solidFill>
                <a:latin typeface="Calibri"/>
              </a:rPr>
              <a:t>A health-check function auto-remediates stale jobs and emails an AI-diagnosed report.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DAE8E1"/>
              </a:gs>
              <a:gs pos="100000">
                <a:srgbClr val="FCFAFB"/>
              </a:gs>
            </a:gsLst>
            <a:lin scaled="0" ang="147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 spc="22">
                <a:solidFill>
                  <a:srgbClr val="189655"/>
                </a:solidFill>
                <a:latin typeface="Calibri"/>
              </a:rPr>
              <a:t>WHAT'S LIVE TODAY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60120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3200" b="1" i="0">
                <a:solidFill>
                  <a:srgbClr val="25121B"/>
                </a:solidFill>
                <a:latin typeface="Cambria"/>
              </a:rPr>
              <a:t>Already built — not a concept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331720"/>
            <a:ext cx="2542032" cy="1920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A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2624328"/>
            <a:ext cx="2084831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4400" b="1" i="0">
                <a:solidFill>
                  <a:srgbClr val="D2336A"/>
                </a:solidFill>
                <a:latin typeface="Cambria"/>
              </a:rPr>
              <a:t>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3474720"/>
            <a:ext cx="2084831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6F5B65"/>
                </a:solidFill>
                <a:latin typeface="Calibri"/>
              </a:rPr>
              <a:t>tools deployed across six subdomains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47872" y="2331720"/>
            <a:ext cx="2542032" cy="1920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A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76472" y="2624328"/>
            <a:ext cx="2084831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4400" b="1" i="0">
                <a:solidFill>
                  <a:srgbClr val="C2520F"/>
                </a:solidFill>
                <a:latin typeface="Cambria"/>
              </a:rPr>
              <a:t>700+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76472" y="3474720"/>
            <a:ext cx="2084831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6F5B65"/>
                </a:solidFill>
                <a:latin typeface="Calibri"/>
              </a:rPr>
              <a:t>femicide &amp; misogyny articles classified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72784" y="2331720"/>
            <a:ext cx="2542032" cy="1920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A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01384" y="2624328"/>
            <a:ext cx="2084831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4400" b="1" i="0">
                <a:solidFill>
                  <a:srgbClr val="AD7916"/>
                </a:solidFill>
                <a:latin typeface="Cambria"/>
              </a:rPr>
              <a:t>47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01384" y="3474720"/>
            <a:ext cx="2084831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6F5B65"/>
                </a:solidFill>
                <a:latin typeface="Calibri"/>
              </a:rPr>
              <a:t>counties covered by the intelligence layer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97696" y="2331720"/>
            <a:ext cx="2542032" cy="1920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A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226296" y="2624328"/>
            <a:ext cx="2084831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4400" b="1" i="0">
                <a:solidFill>
                  <a:srgbClr val="189655"/>
                </a:solidFill>
                <a:latin typeface="Cambria"/>
              </a:rPr>
              <a:t>Live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26296" y="3474720"/>
            <a:ext cx="2084831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6F5B65"/>
                </a:solidFill>
                <a:latin typeface="Calibri"/>
              </a:rPr>
              <a:t>push dispatch + self-healing monitoring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4754880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6F5B65"/>
                </a:solidFill>
                <a:latin typeface="Calibri"/>
              </a:rPr>
              <a:t>The case tracker, scanner, Misogyny Index, Intel Brief pipeline, hepa, Red Flag, Salmin, Itika dispatch and SaInt desk are all </a:t>
            </a:r>
            <a:r>
              <a:rPr sz="1450" b="1" i="0">
                <a:solidFill>
                  <a:srgbClr val="189655"/>
                </a:solidFill>
                <a:latin typeface="Calibri"/>
              </a:rPr>
              <a:t>deployed and running.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DEDDEF"/>
              </a:gs>
              <a:gs pos="100000">
                <a:srgbClr val="FCFAFB"/>
              </a:gs>
            </a:gsLst>
            <a:lin scaled="0" ang="147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 spc="22">
                <a:solidFill>
                  <a:srgbClr val="D2336A"/>
                </a:solidFill>
                <a:latin typeface="Calibri"/>
              </a:rPr>
              <a:t>UNDER THE HOOD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96112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3000" b="1" i="0">
                <a:solidFill>
                  <a:srgbClr val="25121B"/>
                </a:solidFill>
                <a:latin typeface="Cambria"/>
              </a:rPr>
              <a:t>One backend, six front doors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828800"/>
            <a:ext cx="10515600" cy="95097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A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24128" y="1947672"/>
            <a:ext cx="3657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 spc="12">
                <a:solidFill>
                  <a:srgbClr val="6F5B65"/>
                </a:solidFill>
                <a:latin typeface="Calibri"/>
              </a:rPr>
              <a:t>CLIENT APPS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24128" y="2249424"/>
            <a:ext cx="1536192" cy="420624"/>
          </a:xfrm>
          <a:prstGeom prst="roundRect">
            <a:avLst>
              <a:gd name="adj" fmla="val 6000"/>
            </a:avLst>
          </a:prstGeom>
          <a:solidFill>
            <a:srgbClr val="F8F5F7"/>
          </a:solidFill>
          <a:ln w="12700">
            <a:solidFill>
              <a:srgbClr val="8A10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24128" y="2249424"/>
            <a:ext cx="1536192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5121B"/>
                </a:solidFill>
                <a:latin typeface="Calibri"/>
              </a:rPr>
              <a:t>FemSaidia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15768" y="2249424"/>
            <a:ext cx="1536192" cy="420624"/>
          </a:xfrm>
          <a:prstGeom prst="roundRect">
            <a:avLst>
              <a:gd name="adj" fmla="val 6000"/>
            </a:avLst>
          </a:prstGeom>
          <a:solidFill>
            <a:srgbClr val="F8F5F7"/>
          </a:solidFill>
          <a:ln w="12700">
            <a:solidFill>
              <a:srgbClr val="8A10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15768" y="2249424"/>
            <a:ext cx="1536192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5121B"/>
                </a:solidFill>
                <a:latin typeface="Calibri"/>
              </a:rPr>
              <a:t>hepa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07408" y="2249424"/>
            <a:ext cx="1536192" cy="420624"/>
          </a:xfrm>
          <a:prstGeom prst="roundRect">
            <a:avLst>
              <a:gd name="adj" fmla="val 6000"/>
            </a:avLst>
          </a:prstGeom>
          <a:solidFill>
            <a:srgbClr val="F8F5F7"/>
          </a:solidFill>
          <a:ln w="12700">
            <a:solidFill>
              <a:srgbClr val="8A10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07408" y="2249424"/>
            <a:ext cx="1536192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5121B"/>
                </a:solidFill>
                <a:latin typeface="Calibri"/>
              </a:rPr>
              <a:t>Salmin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99048" y="2249424"/>
            <a:ext cx="1536192" cy="420624"/>
          </a:xfrm>
          <a:prstGeom prst="roundRect">
            <a:avLst>
              <a:gd name="adj" fmla="val 6000"/>
            </a:avLst>
          </a:prstGeom>
          <a:solidFill>
            <a:srgbClr val="F8F5F7"/>
          </a:solidFill>
          <a:ln w="12700">
            <a:solidFill>
              <a:srgbClr val="8A10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99048" y="2249424"/>
            <a:ext cx="1536192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5121B"/>
                </a:solidFill>
                <a:latin typeface="Calibri"/>
              </a:rPr>
              <a:t>Red Flag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90688" y="2249424"/>
            <a:ext cx="1536192" cy="420624"/>
          </a:xfrm>
          <a:prstGeom prst="roundRect">
            <a:avLst>
              <a:gd name="adj" fmla="val 6000"/>
            </a:avLst>
          </a:prstGeom>
          <a:solidFill>
            <a:srgbClr val="F8F5F7"/>
          </a:solidFill>
          <a:ln w="12700">
            <a:solidFill>
              <a:srgbClr val="8A10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90688" y="2249424"/>
            <a:ext cx="1536192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5121B"/>
                </a:solidFill>
                <a:latin typeface="Calibri"/>
              </a:rPr>
              <a:t>Itika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482328" y="2249424"/>
            <a:ext cx="1536192" cy="420624"/>
          </a:xfrm>
          <a:prstGeom prst="roundRect">
            <a:avLst>
              <a:gd name="adj" fmla="val 6000"/>
            </a:avLst>
          </a:prstGeom>
          <a:solidFill>
            <a:srgbClr val="F8F5F7"/>
          </a:solidFill>
          <a:ln w="12700">
            <a:solidFill>
              <a:srgbClr val="8A10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482328" y="2249424"/>
            <a:ext cx="1536192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5121B"/>
                </a:solidFill>
                <a:latin typeface="Calibri"/>
              </a:rPr>
              <a:t>SaInt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" y="2980944"/>
            <a:ext cx="10515600" cy="95097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A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24128" y="3099816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 spc="12">
                <a:solidFill>
                  <a:srgbClr val="6F5B65"/>
                </a:solidFill>
                <a:latin typeface="Calibri"/>
              </a:rPr>
              <a:t>EDGE FUNCTIONS  ·  AUTH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24128" y="3401568"/>
            <a:ext cx="1883664" cy="420624"/>
          </a:xfrm>
          <a:prstGeom prst="roundRect">
            <a:avLst>
              <a:gd name="adj" fmla="val 6000"/>
            </a:avLst>
          </a:prstGeom>
          <a:solidFill>
            <a:srgbClr val="F8F5F7"/>
          </a:solidFill>
          <a:ln w="12700">
            <a:solidFill>
              <a:srgbClr val="6A4B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24128" y="3401568"/>
            <a:ext cx="188366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25121B"/>
                </a:solidFill>
                <a:latin typeface="Calibri"/>
              </a:rPr>
              <a:t>send-push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063240" y="3401568"/>
            <a:ext cx="1883664" cy="420624"/>
          </a:xfrm>
          <a:prstGeom prst="roundRect">
            <a:avLst>
              <a:gd name="adj" fmla="val 6000"/>
            </a:avLst>
          </a:prstGeom>
          <a:solidFill>
            <a:srgbClr val="F8F5F7"/>
          </a:solidFill>
          <a:ln w="12700">
            <a:solidFill>
              <a:srgbClr val="6A4B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063240" y="3401568"/>
            <a:ext cx="188366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25121B"/>
                </a:solidFill>
                <a:latin typeface="Calibri"/>
              </a:rPr>
              <a:t>scan-news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102352" y="3401568"/>
            <a:ext cx="1883664" cy="420624"/>
          </a:xfrm>
          <a:prstGeom prst="roundRect">
            <a:avLst>
              <a:gd name="adj" fmla="val 6000"/>
            </a:avLst>
          </a:prstGeom>
          <a:solidFill>
            <a:srgbClr val="F8F5F7"/>
          </a:solidFill>
          <a:ln w="12700">
            <a:solidFill>
              <a:srgbClr val="6A4B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102352" y="3401568"/>
            <a:ext cx="188366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25121B"/>
                </a:solidFill>
                <a:latin typeface="Calibri"/>
              </a:rPr>
              <a:t>generate-brief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141464" y="3401568"/>
            <a:ext cx="1883664" cy="420624"/>
          </a:xfrm>
          <a:prstGeom prst="roundRect">
            <a:avLst>
              <a:gd name="adj" fmla="val 6000"/>
            </a:avLst>
          </a:prstGeom>
          <a:solidFill>
            <a:srgbClr val="F8F5F7"/>
          </a:solidFill>
          <a:ln w="12700">
            <a:solidFill>
              <a:srgbClr val="6A4B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141464" y="3401568"/>
            <a:ext cx="188366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25121B"/>
                </a:solidFill>
                <a:latin typeface="Calibri"/>
              </a:rPr>
              <a:t>health-check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180576" y="3401568"/>
            <a:ext cx="1883664" cy="420624"/>
          </a:xfrm>
          <a:prstGeom prst="roundRect">
            <a:avLst>
              <a:gd name="adj" fmla="val 6000"/>
            </a:avLst>
          </a:prstGeom>
          <a:solidFill>
            <a:srgbClr val="F8F5F7"/>
          </a:solidFill>
          <a:ln w="12700">
            <a:solidFill>
              <a:srgbClr val="6A4B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80576" y="3401568"/>
            <a:ext cx="188366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25121B"/>
                </a:solidFill>
                <a:latin typeface="Calibri"/>
              </a:rPr>
              <a:t>magic-link + RLS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22960" y="4133087"/>
            <a:ext cx="10515600" cy="1042415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0320">
            <a:solidFill>
              <a:srgbClr val="8A10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24128" y="4261104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 spc="10">
                <a:solidFill>
                  <a:srgbClr val="8A1030"/>
                </a:solidFill>
                <a:latin typeface="Calibri"/>
              </a:rPr>
              <a:t>POSTGRES CORE  ·  ROW-LEVEL SECURITY ON EVERY TABLE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024128" y="4562856"/>
            <a:ext cx="1883664" cy="457200"/>
          </a:xfrm>
          <a:prstGeom prst="roundRect">
            <a:avLst>
              <a:gd name="adj" fmla="val 6000"/>
            </a:avLst>
          </a:prstGeom>
          <a:solidFill>
            <a:srgbClr val="F8F5F7"/>
          </a:solidFill>
          <a:ln w="12700">
            <a:solidFill>
              <a:srgbClr val="8A10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24128" y="4562856"/>
            <a:ext cx="1883664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8A1030"/>
                </a:solidFill>
                <a:latin typeface="Calibri"/>
              </a:rPr>
              <a:t>cases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063240" y="4562856"/>
            <a:ext cx="1883664" cy="457200"/>
          </a:xfrm>
          <a:prstGeom prst="roundRect">
            <a:avLst>
              <a:gd name="adj" fmla="val 6000"/>
            </a:avLst>
          </a:prstGeom>
          <a:solidFill>
            <a:srgbClr val="F8F5F7"/>
          </a:solidFill>
          <a:ln w="12700">
            <a:solidFill>
              <a:srgbClr val="8A10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063240" y="4562856"/>
            <a:ext cx="1883664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8A1030"/>
                </a:solidFill>
                <a:latin typeface="Calibri"/>
              </a:rPr>
              <a:t>responder_alerts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102352" y="4562856"/>
            <a:ext cx="1883664" cy="457200"/>
          </a:xfrm>
          <a:prstGeom prst="roundRect">
            <a:avLst>
              <a:gd name="adj" fmla="val 6000"/>
            </a:avLst>
          </a:prstGeom>
          <a:solidFill>
            <a:srgbClr val="F8F5F7"/>
          </a:solidFill>
          <a:ln w="12700">
            <a:solidFill>
              <a:srgbClr val="8A10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102352" y="4562856"/>
            <a:ext cx="1883664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8A1030"/>
                </a:solidFill>
                <a:latin typeface="Calibri"/>
              </a:rPr>
              <a:t>red_flags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141464" y="4562856"/>
            <a:ext cx="1883664" cy="457200"/>
          </a:xfrm>
          <a:prstGeom prst="roundRect">
            <a:avLst>
              <a:gd name="adj" fmla="val 6000"/>
            </a:avLst>
          </a:prstGeom>
          <a:solidFill>
            <a:srgbClr val="F8F5F7"/>
          </a:solidFill>
          <a:ln w="12700">
            <a:solidFill>
              <a:srgbClr val="8A10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141464" y="4562856"/>
            <a:ext cx="1883664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8A1030"/>
                </a:solidFill>
                <a:latin typeface="Calibri"/>
              </a:rPr>
              <a:t>radar_items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9180576" y="4562856"/>
            <a:ext cx="1883664" cy="457200"/>
          </a:xfrm>
          <a:prstGeom prst="roundRect">
            <a:avLst>
              <a:gd name="adj" fmla="val 6000"/>
            </a:avLst>
          </a:prstGeom>
          <a:solidFill>
            <a:srgbClr val="F8F5F7"/>
          </a:solidFill>
          <a:ln w="12700">
            <a:solidFill>
              <a:srgbClr val="8A10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180576" y="4562856"/>
            <a:ext cx="1883664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8A1030"/>
                </a:solidFill>
                <a:latin typeface="Calibri"/>
              </a:rPr>
              <a:t>saint_synthesis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22960" y="5413248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6F5B65"/>
                </a:solidFill>
                <a:latin typeface="Calibri"/>
              </a:rPr>
              <a:t>Scheduled by </a:t>
            </a:r>
            <a:r>
              <a:rPr sz="1350" b="1" i="0">
                <a:solidFill>
                  <a:srgbClr val="AD7916"/>
                </a:solidFill>
                <a:latin typeface="Calibri"/>
              </a:rPr>
              <a:t>pg_cron</a:t>
            </a:r>
            <a:r>
              <a:rPr sz="1350" b="0" i="0">
                <a:solidFill>
                  <a:srgbClr val="6F5B65"/>
                </a:solidFill>
                <a:latin typeface="Calibri"/>
              </a:rPr>
              <a:t>  ·  dispatched over </a:t>
            </a:r>
            <a:r>
              <a:rPr sz="1350" b="1" i="0">
                <a:solidFill>
                  <a:srgbClr val="D2336A"/>
                </a:solidFill>
                <a:latin typeface="Calibri"/>
              </a:rPr>
              <a:t>Web Push</a:t>
            </a:r>
            <a:r>
              <a:rPr sz="1350" b="0" i="0">
                <a:solidFill>
                  <a:srgbClr val="6F5B65"/>
                </a:solidFill>
                <a:latin typeface="Calibri"/>
              </a:rPr>
              <a:t> (VAPID/FCM)  ·  reachable by </a:t>
            </a:r>
            <a:r>
              <a:rPr sz="1350" b="1" i="0">
                <a:solidFill>
                  <a:srgbClr val="108673"/>
                </a:solidFill>
                <a:latin typeface="Calibri"/>
              </a:rPr>
              <a:t>Africa's Talking</a:t>
            </a:r>
            <a:r>
              <a:rPr sz="1350" b="0" i="0">
                <a:solidFill>
                  <a:srgbClr val="6F5B65"/>
                </a:solidFill>
                <a:latin typeface="Calibri"/>
              </a:rPr>
              <a:t> USSD — no app talks to another; they all talk to one secured core.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DEDDEF"/>
              </a:gs>
              <a:gs pos="100000">
                <a:srgbClr val="FCFAFB"/>
              </a:gs>
            </a:gsLst>
            <a:lin scaled="0" ang="147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 spc="22">
                <a:solidFill>
                  <a:srgbClr val="3344C0"/>
                </a:solidFill>
                <a:latin typeface="Calibri"/>
              </a:rPr>
              <a:t>DATA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14400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25121B"/>
                </a:solidFill>
                <a:latin typeface="Cambria"/>
              </a:rPr>
              <a:t>One Postgres schema, secured by row-level security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499616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6F5B65"/>
                </a:solidFill>
                <a:latin typeface="Calibri"/>
              </a:rPr>
              <a:t>Supabase (eu-west-1) · magic-link auth via Resend · anon key on every frontend · service-role key only inside Edge Functions.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103120"/>
            <a:ext cx="3383280" cy="3429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6510">
            <a:solidFill>
              <a:srgbClr val="1896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" y="2359152"/>
            <a:ext cx="2834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 spc="6">
                <a:solidFill>
                  <a:srgbClr val="189655"/>
                </a:solidFill>
                <a:latin typeface="Calibri"/>
              </a:rPr>
              <a:t>PUBLIC READ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" y="2715768"/>
            <a:ext cx="2834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6F5B65"/>
                </a:solidFill>
                <a:latin typeface="Calibri"/>
              </a:rPr>
              <a:t>content meant to be seen</a:t>
            </a:r>
          </a:p>
        </p:txBody>
      </p:sp>
      <p:sp>
        <p:nvSpPr>
          <p:cNvPr id="9" name="Oval 8"/>
          <p:cNvSpPr/>
          <p:nvPr/>
        </p:nvSpPr>
        <p:spPr>
          <a:xfrm>
            <a:off x="1152144" y="3264408"/>
            <a:ext cx="109728" cy="109728"/>
          </a:xfrm>
          <a:prstGeom prst="ellipse">
            <a:avLst/>
          </a:prstGeom>
          <a:solidFill>
            <a:srgbClr val="1896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89888" y="3182112"/>
            <a:ext cx="2697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25121B"/>
                </a:solidFill>
                <a:latin typeface="Calibri"/>
              </a:rPr>
              <a:t>femicide_cases (published)</a:t>
            </a:r>
          </a:p>
        </p:txBody>
      </p:sp>
      <p:sp>
        <p:nvSpPr>
          <p:cNvPr id="11" name="Oval 10"/>
          <p:cNvSpPr/>
          <p:nvPr/>
        </p:nvSpPr>
        <p:spPr>
          <a:xfrm>
            <a:off x="1152144" y="3721608"/>
            <a:ext cx="109728" cy="109728"/>
          </a:xfrm>
          <a:prstGeom prst="ellipse">
            <a:avLst/>
          </a:prstGeom>
          <a:solidFill>
            <a:srgbClr val="1896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89888" y="3639312"/>
            <a:ext cx="2697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25121B"/>
                </a:solidFill>
                <a:latin typeface="Calibri"/>
              </a:rPr>
              <a:t>sentiment_articles</a:t>
            </a:r>
          </a:p>
        </p:txBody>
      </p:sp>
      <p:sp>
        <p:nvSpPr>
          <p:cNvPr id="13" name="Oval 12"/>
          <p:cNvSpPr/>
          <p:nvPr/>
        </p:nvSpPr>
        <p:spPr>
          <a:xfrm>
            <a:off x="1152144" y="4178808"/>
            <a:ext cx="109728" cy="109728"/>
          </a:xfrm>
          <a:prstGeom prst="ellipse">
            <a:avLst/>
          </a:prstGeom>
          <a:solidFill>
            <a:srgbClr val="1896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89888" y="4096512"/>
            <a:ext cx="2697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25121B"/>
                </a:solidFill>
                <a:latin typeface="Calibri"/>
              </a:rPr>
              <a:t>misogyny_highlights</a:t>
            </a:r>
          </a:p>
        </p:txBody>
      </p:sp>
      <p:sp>
        <p:nvSpPr>
          <p:cNvPr id="15" name="Oval 14"/>
          <p:cNvSpPr/>
          <p:nvPr/>
        </p:nvSpPr>
        <p:spPr>
          <a:xfrm>
            <a:off x="1152144" y="4636008"/>
            <a:ext cx="109728" cy="109728"/>
          </a:xfrm>
          <a:prstGeom prst="ellipse">
            <a:avLst/>
          </a:prstGeom>
          <a:solidFill>
            <a:srgbClr val="1896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389888" y="4553712"/>
            <a:ext cx="2697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25121B"/>
                </a:solidFill>
                <a:latin typeface="Calibri"/>
              </a:rPr>
              <a:t>redflag_profiles (approved)</a:t>
            </a:r>
          </a:p>
        </p:txBody>
      </p:sp>
      <p:sp>
        <p:nvSpPr>
          <p:cNvPr id="17" name="Oval 16"/>
          <p:cNvSpPr/>
          <p:nvPr/>
        </p:nvSpPr>
        <p:spPr>
          <a:xfrm>
            <a:off x="1152144" y="5093208"/>
            <a:ext cx="109728" cy="109728"/>
          </a:xfrm>
          <a:prstGeom prst="ellipse">
            <a:avLst/>
          </a:prstGeom>
          <a:solidFill>
            <a:srgbClr val="1896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89888" y="5010912"/>
            <a:ext cx="2697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25121B"/>
                </a:solidFill>
                <a:latin typeface="Calibri"/>
              </a:rPr>
              <a:t>safety_norms (published)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434840" y="2103120"/>
            <a:ext cx="3383280" cy="3429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6510">
            <a:solidFill>
              <a:srgbClr val="AD79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727448" y="2359152"/>
            <a:ext cx="2834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 spc="6">
                <a:solidFill>
                  <a:srgbClr val="AD7916"/>
                </a:solidFill>
                <a:latin typeface="Calibri"/>
              </a:rPr>
              <a:t>ANON INSERT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27448" y="2715768"/>
            <a:ext cx="2834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6F5B65"/>
                </a:solidFill>
                <a:latin typeface="Calibri"/>
              </a:rPr>
              <a:t>user-submitted, no login</a:t>
            </a:r>
          </a:p>
        </p:txBody>
      </p:sp>
      <p:sp>
        <p:nvSpPr>
          <p:cNvPr id="22" name="Oval 21"/>
          <p:cNvSpPr/>
          <p:nvPr/>
        </p:nvSpPr>
        <p:spPr>
          <a:xfrm>
            <a:off x="4764024" y="3264408"/>
            <a:ext cx="109728" cy="109728"/>
          </a:xfrm>
          <a:prstGeom prst="ellipse">
            <a:avLst/>
          </a:prstGeom>
          <a:solidFill>
            <a:srgbClr val="AD79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01768" y="3182112"/>
            <a:ext cx="2697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25121B"/>
                </a:solidFill>
                <a:latin typeface="Calibri"/>
              </a:rPr>
              <a:t>femicide_cases</a:t>
            </a:r>
          </a:p>
        </p:txBody>
      </p:sp>
      <p:sp>
        <p:nvSpPr>
          <p:cNvPr id="24" name="Oval 23"/>
          <p:cNvSpPr/>
          <p:nvPr/>
        </p:nvSpPr>
        <p:spPr>
          <a:xfrm>
            <a:off x="4764024" y="3721608"/>
            <a:ext cx="109728" cy="109728"/>
          </a:xfrm>
          <a:prstGeom prst="ellipse">
            <a:avLst/>
          </a:prstGeom>
          <a:solidFill>
            <a:srgbClr val="AD79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01768" y="3639312"/>
            <a:ext cx="2697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25121B"/>
                </a:solidFill>
                <a:latin typeface="Calibri"/>
              </a:rPr>
              <a:t>redflag_submissions</a:t>
            </a:r>
          </a:p>
        </p:txBody>
      </p:sp>
      <p:sp>
        <p:nvSpPr>
          <p:cNvPr id="26" name="Oval 25"/>
          <p:cNvSpPr/>
          <p:nvPr/>
        </p:nvSpPr>
        <p:spPr>
          <a:xfrm>
            <a:off x="4764024" y="4178808"/>
            <a:ext cx="109728" cy="109728"/>
          </a:xfrm>
          <a:prstGeom prst="ellipse">
            <a:avLst/>
          </a:prstGeom>
          <a:solidFill>
            <a:srgbClr val="AD79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01768" y="4096512"/>
            <a:ext cx="2697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25121B"/>
                </a:solidFill>
                <a:latin typeface="Calibri"/>
              </a:rPr>
              <a:t>responder_alerts</a:t>
            </a:r>
          </a:p>
        </p:txBody>
      </p:sp>
      <p:sp>
        <p:nvSpPr>
          <p:cNvPr id="28" name="Oval 27"/>
          <p:cNvSpPr/>
          <p:nvPr/>
        </p:nvSpPr>
        <p:spPr>
          <a:xfrm>
            <a:off x="4764024" y="4636008"/>
            <a:ext cx="109728" cy="109728"/>
          </a:xfrm>
          <a:prstGeom prst="ellipse">
            <a:avLst/>
          </a:prstGeom>
          <a:solidFill>
            <a:srgbClr val="AD79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01768" y="4553712"/>
            <a:ext cx="2697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25121B"/>
                </a:solidFill>
                <a:latin typeface="Calibri"/>
              </a:rPr>
              <a:t>archetype_voices</a:t>
            </a:r>
          </a:p>
        </p:txBody>
      </p:sp>
      <p:sp>
        <p:nvSpPr>
          <p:cNvPr id="30" name="Oval 29"/>
          <p:cNvSpPr/>
          <p:nvPr/>
        </p:nvSpPr>
        <p:spPr>
          <a:xfrm>
            <a:off x="4764024" y="5093208"/>
            <a:ext cx="109728" cy="109728"/>
          </a:xfrm>
          <a:prstGeom prst="ellipse">
            <a:avLst/>
          </a:prstGeom>
          <a:solidFill>
            <a:srgbClr val="AD79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01768" y="5010912"/>
            <a:ext cx="2697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25121B"/>
                </a:solidFill>
                <a:latin typeface="Calibri"/>
              </a:rPr>
              <a:t>responders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046720" y="2103120"/>
            <a:ext cx="3383280" cy="3429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6510">
            <a:solidFill>
              <a:srgbClr val="8A10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339328" y="2359152"/>
            <a:ext cx="2834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 spc="6">
                <a:solidFill>
                  <a:srgbClr val="8A1030"/>
                </a:solidFill>
                <a:latin typeface="Calibri"/>
              </a:rPr>
              <a:t>AUTHENTICATED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39328" y="2715768"/>
            <a:ext cx="2834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6F5B65"/>
                </a:solidFill>
                <a:latin typeface="Calibri"/>
              </a:rPr>
              <a:t>admin operations only</a:t>
            </a:r>
          </a:p>
        </p:txBody>
      </p:sp>
      <p:sp>
        <p:nvSpPr>
          <p:cNvPr id="35" name="Oval 34"/>
          <p:cNvSpPr/>
          <p:nvPr/>
        </p:nvSpPr>
        <p:spPr>
          <a:xfrm>
            <a:off x="8375904" y="3264408"/>
            <a:ext cx="109728" cy="109728"/>
          </a:xfrm>
          <a:prstGeom prst="ellipse">
            <a:avLst/>
          </a:prstGeom>
          <a:solidFill>
            <a:srgbClr val="8A1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613648" y="3182112"/>
            <a:ext cx="2697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25121B"/>
                </a:solidFill>
                <a:latin typeface="Calibri"/>
              </a:rPr>
              <a:t>verify &amp; activate responders</a:t>
            </a:r>
          </a:p>
        </p:txBody>
      </p:sp>
      <p:sp>
        <p:nvSpPr>
          <p:cNvPr id="37" name="Oval 36"/>
          <p:cNvSpPr/>
          <p:nvPr/>
        </p:nvSpPr>
        <p:spPr>
          <a:xfrm>
            <a:off x="8375904" y="3721608"/>
            <a:ext cx="109728" cy="109728"/>
          </a:xfrm>
          <a:prstGeom prst="ellipse">
            <a:avLst/>
          </a:prstGeom>
          <a:solidFill>
            <a:srgbClr val="8A1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613648" y="3639312"/>
            <a:ext cx="2697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25121B"/>
                </a:solidFill>
                <a:latin typeface="Calibri"/>
              </a:rPr>
              <a:t>publish / edit cases</a:t>
            </a:r>
          </a:p>
        </p:txBody>
      </p:sp>
      <p:sp>
        <p:nvSpPr>
          <p:cNvPr id="39" name="Oval 38"/>
          <p:cNvSpPr/>
          <p:nvPr/>
        </p:nvSpPr>
        <p:spPr>
          <a:xfrm>
            <a:off x="8375904" y="4178808"/>
            <a:ext cx="109728" cy="109728"/>
          </a:xfrm>
          <a:prstGeom prst="ellipse">
            <a:avLst/>
          </a:prstGeom>
          <a:solidFill>
            <a:srgbClr val="8A1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613648" y="4096512"/>
            <a:ext cx="2697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25121B"/>
                </a:solidFill>
                <a:latin typeface="Calibri"/>
              </a:rPr>
              <a:t>publish the Intel Brief</a:t>
            </a:r>
          </a:p>
        </p:txBody>
      </p:sp>
      <p:sp>
        <p:nvSpPr>
          <p:cNvPr id="41" name="Oval 40"/>
          <p:cNvSpPr/>
          <p:nvPr/>
        </p:nvSpPr>
        <p:spPr>
          <a:xfrm>
            <a:off x="8375904" y="4636008"/>
            <a:ext cx="109728" cy="109728"/>
          </a:xfrm>
          <a:prstGeom prst="ellipse">
            <a:avLst/>
          </a:prstGeom>
          <a:solidFill>
            <a:srgbClr val="8A1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613648" y="4553712"/>
            <a:ext cx="2697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25121B"/>
                </a:solidFill>
                <a:latin typeface="Calibri"/>
              </a:rPr>
              <a:t>moderate community voices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22960" y="580644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6F5B65"/>
                </a:solidFill>
                <a:latin typeface="Calibri"/>
              </a:rPr>
              <a:t>The admin portal holds no elevated database privileges — it simply knows the admin email. Security lives in the policies, not the client.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E5DEF1"/>
              </a:gs>
              <a:gs pos="100000">
                <a:srgbClr val="FCFAFB"/>
              </a:gs>
            </a:gsLst>
            <a:lin scaled="0" ang="147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 spc="22">
                <a:solidFill>
                  <a:srgbClr val="6A4BCF"/>
                </a:solidFill>
                <a:latin typeface="Calibri"/>
              </a:rPr>
              <a:t>DEPLOYMENT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14400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25121B"/>
                </a:solidFill>
                <a:latin typeface="Cambria"/>
              </a:rPr>
              <a:t>One repository, six subdomains, one command each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755648"/>
            <a:ext cx="6080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6A4BCF"/>
                </a:solidFill>
                <a:latin typeface="Calibri"/>
              </a:rPr>
              <a:t>github.com/ombonya-del/femsaidiakenya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212848"/>
            <a:ext cx="6080760" cy="51206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A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2212848"/>
            <a:ext cx="155448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8A1030"/>
                </a:solidFill>
                <a:latin typeface="Calibri"/>
              </a:rPr>
              <a:t>/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31720" y="2212848"/>
            <a:ext cx="448056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5121B"/>
                </a:solidFill>
                <a:latin typeface="Calibri"/>
              </a:rPr>
              <a:t>→  femsaidiakenya.org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2798064"/>
            <a:ext cx="6080760" cy="51206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A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2798064"/>
            <a:ext cx="155448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8A1030"/>
                </a:solidFill>
                <a:latin typeface="Calibri"/>
              </a:rPr>
              <a:t>/admin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31720" y="2798064"/>
            <a:ext cx="448056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5121B"/>
                </a:solidFill>
                <a:latin typeface="Calibri"/>
              </a:rPr>
              <a:t>→  admin.femsaidiakenya.org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3383280"/>
            <a:ext cx="6080760" cy="51206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A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3383280"/>
            <a:ext cx="155448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8A1030"/>
                </a:solidFill>
                <a:latin typeface="Calibri"/>
              </a:rPr>
              <a:t>/hepa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31720" y="3383280"/>
            <a:ext cx="448056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5121B"/>
                </a:solidFill>
                <a:latin typeface="Calibri"/>
              </a:rPr>
              <a:t>→  hepa.femsaidiakenya.org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3968496"/>
            <a:ext cx="6080760" cy="51206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A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51560" y="3968496"/>
            <a:ext cx="155448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8A1030"/>
                </a:solidFill>
                <a:latin typeface="Calibri"/>
              </a:rPr>
              <a:t>/redflag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31720" y="3968496"/>
            <a:ext cx="448056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5121B"/>
                </a:solidFill>
                <a:latin typeface="Calibri"/>
              </a:rPr>
              <a:t>→  redflag.femsaidiakenya.org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4553712"/>
            <a:ext cx="6080760" cy="51206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A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51560" y="4553712"/>
            <a:ext cx="155448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8A1030"/>
                </a:solidFill>
                <a:latin typeface="Calibri"/>
              </a:rPr>
              <a:t>/itika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31720" y="4553712"/>
            <a:ext cx="448056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5121B"/>
                </a:solidFill>
                <a:latin typeface="Calibri"/>
              </a:rPr>
              <a:t>→  itika.femsaidiakenya.org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2960" y="5138927"/>
            <a:ext cx="6080760" cy="51206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A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51560" y="5138927"/>
            <a:ext cx="155448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8A1030"/>
                </a:solidFill>
                <a:latin typeface="Calibri"/>
              </a:rPr>
              <a:t>/saint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331720" y="5138927"/>
            <a:ext cx="448056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5121B"/>
                </a:solidFill>
                <a:latin typeface="Calibri"/>
              </a:rPr>
              <a:t>→  saint.femsaidiakenya.org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178040" y="2212848"/>
            <a:ext cx="4160520" cy="1097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D233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470648" y="2395728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D2336A"/>
                </a:solidFill>
                <a:latin typeface="Calibri"/>
              </a:rPr>
              <a:t>Vercel · Pro plan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70648" y="2734056"/>
            <a:ext cx="3657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6F5B65"/>
                </a:solidFill>
                <a:latin typeface="Calibri"/>
              </a:rPr>
              <a:t>Each subdir is its own Vercel project; Namecheap CNAMEs point to Vercel DNS; auto-deploy on every push.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178040" y="3438144"/>
            <a:ext cx="4160520" cy="1097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1086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470648" y="3621024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108673"/>
                </a:solidFill>
                <a:latin typeface="Calibri"/>
              </a:rPr>
              <a:t>Edge Functions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70648" y="3959352"/>
            <a:ext cx="3657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6F5B65"/>
                </a:solidFill>
                <a:latin typeface="Calibri"/>
              </a:rPr>
              <a:t>supabase functions deploy … --no-verify-jwt — USSD and cron callers carry no JWT.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178040" y="4663440"/>
            <a:ext cx="4160520" cy="1097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AD79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470648" y="484632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AD7916"/>
                </a:solidFill>
                <a:latin typeface="Calibri"/>
              </a:rPr>
              <a:t>pg_cron schedule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70648" y="5184648"/>
            <a:ext cx="3657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6F5B65"/>
                </a:solidFill>
                <a:latin typeface="Calibri"/>
              </a:rPr>
              <a:t>rss-scanner + health-check fire every 6h (00·06·12·18 UTC) — the schedules live in the database itself.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D9E6E5"/>
              </a:gs>
              <a:gs pos="100000">
                <a:srgbClr val="FCFAFB"/>
              </a:gs>
            </a:gsLst>
            <a:lin scaled="0" ang="147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 spc="22">
                <a:solidFill>
                  <a:srgbClr val="D2336A"/>
                </a:solidFill>
                <a:latin typeface="Calibri"/>
              </a:rPr>
              <a:t>THE DATA PATHWAY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96112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2900" b="1" i="0">
                <a:solidFill>
                  <a:srgbClr val="25121B"/>
                </a:solidFill>
                <a:latin typeface="Cambria"/>
              </a:rPr>
              <a:t>End to end: signal → intelligence → response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234440" y="1810512"/>
            <a:ext cx="9692640" cy="76809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C252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572768" y="2048256"/>
            <a:ext cx="292608" cy="292608"/>
          </a:xfrm>
          <a:prstGeom prst="ellipse">
            <a:avLst/>
          </a:prstGeom>
          <a:solidFill>
            <a:srgbClr val="C252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72768" y="2048256"/>
            <a:ext cx="292608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12848" y="1810512"/>
            <a:ext cx="2103120" cy="768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 spc="6">
                <a:solidFill>
                  <a:srgbClr val="C2520F"/>
                </a:solidFill>
                <a:latin typeface="Calibri"/>
              </a:rPr>
              <a:t>INTAKE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43400" y="1810512"/>
            <a:ext cx="6400800" cy="768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6F5B65"/>
                </a:solidFill>
                <a:latin typeface="Calibri"/>
              </a:rPr>
              <a:t>Manual case entry · automated news scanner · Red Flag submissions · SOS signals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234440" y="2715768"/>
            <a:ext cx="9692640" cy="76809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AD79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572768" y="2953511"/>
            <a:ext cx="292608" cy="292608"/>
          </a:xfrm>
          <a:prstGeom prst="ellipse">
            <a:avLst/>
          </a:prstGeom>
          <a:solidFill>
            <a:srgbClr val="AD79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572768" y="2953511"/>
            <a:ext cx="292608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12848" y="2715768"/>
            <a:ext cx="2103120" cy="768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 spc="6">
                <a:solidFill>
                  <a:srgbClr val="AD7916"/>
                </a:solidFill>
                <a:latin typeface="Calibri"/>
              </a:rPr>
              <a:t>VERIFY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43400" y="2715768"/>
            <a:ext cx="6400800" cy="768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6F5B65"/>
                </a:solidFill>
                <a:latin typeface="Calibri"/>
              </a:rPr>
              <a:t>Admin verification gate — invite-gated, dignity-first; nothing public until confirmed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234440" y="3621024"/>
            <a:ext cx="9692640" cy="76809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8A10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572768" y="3858768"/>
            <a:ext cx="292608" cy="292608"/>
          </a:xfrm>
          <a:prstGeom prst="ellipse">
            <a:avLst/>
          </a:prstGeom>
          <a:solidFill>
            <a:srgbClr val="8A1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572768" y="3858768"/>
            <a:ext cx="292608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12848" y="3621024"/>
            <a:ext cx="2103120" cy="768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 spc="6">
                <a:solidFill>
                  <a:srgbClr val="8A1030"/>
                </a:solidFill>
                <a:latin typeface="Calibri"/>
              </a:rPr>
              <a:t>CORE DB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43400" y="3621024"/>
            <a:ext cx="6400800" cy="768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6F5B65"/>
                </a:solidFill>
                <a:latin typeface="Calibri"/>
              </a:rPr>
              <a:t>One Postgres schema · row-level security · a single source of truth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234440" y="4526280"/>
            <a:ext cx="9692640" cy="76809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D233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572768" y="4764024"/>
            <a:ext cx="292608" cy="292608"/>
          </a:xfrm>
          <a:prstGeom prst="ellipse">
            <a:avLst/>
          </a:prstGeom>
          <a:solidFill>
            <a:srgbClr val="D233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572768" y="4764024"/>
            <a:ext cx="292608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212848" y="4526280"/>
            <a:ext cx="2103120" cy="768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 spc="6">
                <a:solidFill>
                  <a:srgbClr val="D2336A"/>
                </a:solidFill>
                <a:latin typeface="Calibri"/>
              </a:rPr>
              <a:t>DISTRIBUTE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43400" y="4526280"/>
            <a:ext cx="6400800" cy="768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6F5B65"/>
                </a:solidFill>
                <a:latin typeface="Calibri"/>
              </a:rPr>
              <a:t>Six apps · Intel Brief · Misogyny Index — published as public intelligence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234440" y="5431536"/>
            <a:ext cx="9692640" cy="76809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1896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572768" y="5669280"/>
            <a:ext cx="292608" cy="292608"/>
          </a:xfrm>
          <a:prstGeom prst="ellipse">
            <a:avLst/>
          </a:prstGeom>
          <a:solidFill>
            <a:srgbClr val="1896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572768" y="5669280"/>
            <a:ext cx="292608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Cambria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212848" y="5431536"/>
            <a:ext cx="2103120" cy="768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 spc="6">
                <a:solidFill>
                  <a:srgbClr val="189655"/>
                </a:solidFill>
                <a:latin typeface="Calibri"/>
              </a:rPr>
              <a:t>RESPOND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43400" y="5431536"/>
            <a:ext cx="6400800" cy="768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6F5B65"/>
                </a:solidFill>
                <a:latin typeface="Calibri"/>
              </a:rPr>
              <a:t>Web Push to Itika responders — county-routed, in real time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EEE4D9"/>
              </a:gs>
              <a:gs pos="100000">
                <a:srgbClr val="FCFAFB"/>
              </a:gs>
            </a:gsLst>
            <a:lin scaled="0" ang="147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 spc="22">
                <a:solidFill>
                  <a:srgbClr val="D2336A"/>
                </a:solidFill>
                <a:latin typeface="Calibri"/>
              </a:rPr>
              <a:t>THE 18-MONTH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14400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3200" b="1" i="0">
                <a:solidFill>
                  <a:srgbClr val="25121B"/>
                </a:solidFill>
                <a:latin typeface="Cambria"/>
              </a:rPr>
              <a:t>From built to scaled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194560"/>
            <a:ext cx="10515600" cy="93268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A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97280" y="2523744"/>
            <a:ext cx="164592" cy="164592"/>
          </a:xfrm>
          <a:prstGeom prst="ellipse">
            <a:avLst/>
          </a:prstGeom>
          <a:solidFill>
            <a:srgbClr val="1896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63040" y="2340864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25121B"/>
                </a:solidFill>
                <a:latin typeface="Calibri"/>
              </a:rPr>
              <a:t>Itika responder network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2688336"/>
            <a:ext cx="7680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6F5B65"/>
                </a:solidFill>
                <a:latin typeface="Calibri"/>
              </a:rPr>
              <a:t>Recruit, vet &amp; train 50 responders across 5 pilot counties — Nairobi, Mombasa, Nakuru, Kisumu, Kajiado — with FIDA, COVAW &amp; BSAK.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0" y="2194560"/>
            <a:ext cx="1828800" cy="9326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89655"/>
                </a:solidFill>
                <a:latin typeface="Calibri"/>
              </a:rPr>
              <a:t>Sep 2026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3255263"/>
            <a:ext cx="10515600" cy="93268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A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97280" y="3584447"/>
            <a:ext cx="164592" cy="164592"/>
          </a:xfrm>
          <a:prstGeom prst="ellipse">
            <a:avLst/>
          </a:prstGeom>
          <a:solidFill>
            <a:srgbClr val="AD79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463040" y="3401568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25121B"/>
                </a:solidFill>
                <a:latin typeface="Calibri"/>
              </a:rPr>
              <a:t>Salmin production shortcode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3040" y="3749039"/>
            <a:ext cx="7680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6F5B65"/>
                </a:solidFill>
                <a:latin typeface="Calibri"/>
              </a:rPr>
              <a:t>Activate *384*89056# on Safaricom, Airtel &amp; Telkom (currently test environment).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0" y="3255263"/>
            <a:ext cx="1828800" cy="9326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AD7916"/>
                </a:solidFill>
                <a:latin typeface="Calibri"/>
              </a:rPr>
              <a:t>18-month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4315968"/>
            <a:ext cx="10515600" cy="93268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A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097280" y="4645152"/>
            <a:ext cx="164592" cy="164592"/>
          </a:xfrm>
          <a:prstGeom prst="ellipse">
            <a:avLst/>
          </a:prstGeom>
          <a:solidFill>
            <a:srgbClr val="D233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63040" y="4462272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25121B"/>
                </a:solidFill>
                <a:latin typeface="Calibri"/>
              </a:rPr>
              <a:t>Government data MOU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63040" y="4809744"/>
            <a:ext cx="7680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6F5B65"/>
                </a:solidFill>
                <a:latin typeface="Calibri"/>
              </a:rPr>
              <a:t>Formalise data-sharing with the DPP &amp; National Police Service to sharpen the justice funnel.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26880" y="4315968"/>
            <a:ext cx="1828800" cy="9326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D2336A"/>
                </a:solidFill>
                <a:latin typeface="Calibri"/>
              </a:rPr>
              <a:t>18-month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" y="5376671"/>
            <a:ext cx="10515600" cy="93268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A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097280" y="5705855"/>
            <a:ext cx="164592" cy="164592"/>
          </a:xfrm>
          <a:prstGeom prst="ellipse">
            <a:avLst/>
          </a:prstGeom>
          <a:solidFill>
            <a:srgbClr val="6A4B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463040" y="5522975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25121B"/>
                </a:solidFill>
                <a:latin typeface="Calibri"/>
              </a:rPr>
              <a:t>Real-time &amp; geo-routing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63040" y="5870447"/>
            <a:ext cx="7680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6F5B65"/>
                </a:solidFill>
                <a:latin typeface="Calibri"/>
              </a:rPr>
              <a:t>Supabase Realtime for sub-second alerts; GPS-to-county reverse geocoding.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26880" y="5376671"/>
            <a:ext cx="1828800" cy="9326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6A4BCF"/>
                </a:solidFill>
                <a:latin typeface="Calibri"/>
              </a:rPr>
              <a:t>Ongoing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E9D7DD"/>
              </a:gs>
              <a:gs pos="100000">
                <a:srgbClr val="FCFAFB"/>
              </a:gs>
            </a:gsLst>
            <a:lin scaled="0" ang="147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 spc="22">
                <a:solidFill>
                  <a:srgbClr val="D2336A"/>
                </a:solidFill>
                <a:latin typeface="Calibri"/>
              </a:rPr>
              <a:t>THE ASK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14400"/>
            <a:ext cx="658368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5200" b="1" i="0">
                <a:solidFill>
                  <a:srgbClr val="D2336A"/>
                </a:solidFill>
                <a:latin typeface="Cambria"/>
              </a:rPr>
              <a:t>USD 110,000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 i="0">
                <a:solidFill>
                  <a:srgbClr val="25121B"/>
                </a:solidFill>
                <a:latin typeface="Calibri"/>
              </a:rPr>
              <a:t>over 18 months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0" i="0">
                <a:solidFill>
                  <a:srgbClr val="6F5B65"/>
                </a:solidFill>
                <a:latin typeface="Calibri"/>
              </a:rPr>
              <a:t>≈ Ksh 14.3 million — to scale an ecosystem that is already built.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406640" y="914400"/>
            <a:ext cx="3931920" cy="5029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A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26679" y="123444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 spc="12">
                <a:solidFill>
                  <a:srgbClr val="D2336A"/>
                </a:solidFill>
                <a:latin typeface="Calibri"/>
              </a:rPr>
              <a:t>18-MONTH BUDGET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26679" y="1783080"/>
            <a:ext cx="2606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25121B"/>
                </a:solidFill>
                <a:latin typeface="Calibri"/>
              </a:rPr>
              <a:t>Research, verification &amp; data team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195559" y="1783080"/>
            <a:ext cx="1005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AD7916"/>
                </a:solidFill>
                <a:latin typeface="Calibri"/>
              </a:rPr>
              <a:t>$30,000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26679" y="2290572"/>
            <a:ext cx="2606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25121B"/>
                </a:solidFill>
                <a:latin typeface="Calibri"/>
              </a:rPr>
              <a:t>Itika first-responder network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195559" y="2290572"/>
            <a:ext cx="1005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AD7916"/>
                </a:solidFill>
                <a:latin typeface="Calibri"/>
              </a:rPr>
              <a:t>$18,000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26679" y="2798064"/>
            <a:ext cx="2606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25121B"/>
                </a:solidFill>
                <a:latin typeface="Calibri"/>
              </a:rPr>
              <a:t>Community outreach &amp; CSO partnerships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195559" y="2798064"/>
            <a:ext cx="1005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AD7916"/>
                </a:solidFill>
                <a:latin typeface="Calibri"/>
              </a:rPr>
              <a:t>$17,000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26679" y="3305556"/>
            <a:ext cx="2606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25121B"/>
                </a:solidFill>
                <a:latin typeface="Calibri"/>
              </a:rPr>
              <a:t>Communications &amp; media intelligence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195559" y="3305556"/>
            <a:ext cx="1005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AD7916"/>
                </a:solidFill>
                <a:latin typeface="Calibri"/>
              </a:rPr>
              <a:t>$15,000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26679" y="3813048"/>
            <a:ext cx="2606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25121B"/>
                </a:solidFill>
                <a:latin typeface="Calibri"/>
              </a:rPr>
              <a:t>Salmin USSD operations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195559" y="3813048"/>
            <a:ext cx="1005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AD7916"/>
                </a:solidFill>
                <a:latin typeface="Calibri"/>
              </a:rPr>
              <a:t>$12,000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26679" y="4320540"/>
            <a:ext cx="2606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25121B"/>
                </a:solidFill>
                <a:latin typeface="Calibri"/>
              </a:rPr>
              <a:t>Platform hosting &amp; infrastructure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195559" y="4320540"/>
            <a:ext cx="1005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AD7916"/>
                </a:solidFill>
                <a:latin typeface="Calibri"/>
              </a:rPr>
              <a:t>$8,000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26679" y="4828031"/>
            <a:ext cx="2606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25121B"/>
                </a:solidFill>
                <a:latin typeface="Calibri"/>
              </a:rPr>
              <a:t>Organisational management &amp; admin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195559" y="4828031"/>
            <a:ext cx="1005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AD7916"/>
                </a:solidFill>
                <a:latin typeface="Calibri"/>
              </a:rPr>
              <a:t>$10,000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726679" y="5353811"/>
            <a:ext cx="3291840" cy="16459"/>
          </a:xfrm>
          <a:prstGeom prst="rect">
            <a:avLst/>
          </a:prstGeom>
          <a:solidFill>
            <a:srgbClr val="8A1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26679" y="5463539"/>
            <a:ext cx="2194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25121B"/>
                </a:solidFill>
                <a:latin typeface="Calibri"/>
              </a:rPr>
              <a:t>TOTAL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84080" y="5463539"/>
            <a:ext cx="1417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D2336A"/>
                </a:solidFill>
                <a:latin typeface="Calibri"/>
              </a:rPr>
              <a:t>$110,000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DAE8E1"/>
              </a:gs>
              <a:gs pos="100000">
                <a:srgbClr val="FCFAFB"/>
              </a:gs>
            </a:gsLst>
            <a:lin scaled="0" ang="147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 spc="22">
                <a:solidFill>
                  <a:srgbClr val="D2336A"/>
                </a:solidFill>
                <a:latin typeface="Calibri"/>
              </a:rPr>
              <a:t>PARTNERSHIP PATHWAYS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14400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2900" b="1" i="0">
                <a:solidFill>
                  <a:srgbClr val="25121B"/>
                </a:solidFill>
                <a:latin typeface="Cambria"/>
              </a:rPr>
              <a:t>Built to plug into existing infrastructure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240280"/>
            <a:ext cx="5166360" cy="1737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A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8720" y="2532888"/>
            <a:ext cx="44348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1" i="0">
                <a:solidFill>
                  <a:srgbClr val="D2336A"/>
                </a:solidFill>
                <a:latin typeface="Calibri"/>
              </a:rPr>
              <a:t>Legal &amp; rights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3017520"/>
            <a:ext cx="44348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25121B"/>
                </a:solidFill>
                <a:latin typeface="Calibri"/>
              </a:rPr>
              <a:t>FIDA Kenya · COVAW · Kituo cha Sheria · Usikimye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2240280"/>
            <a:ext cx="5166360" cy="1737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A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37960" y="2532888"/>
            <a:ext cx="44348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1" i="0">
                <a:solidFill>
                  <a:srgbClr val="189655"/>
                </a:solidFill>
                <a:latin typeface="Calibri"/>
              </a:rPr>
              <a:t>First responders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37960" y="3017520"/>
            <a:ext cx="44348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25121B"/>
                </a:solidFill>
                <a:latin typeface="Calibri"/>
              </a:rPr>
              <a:t>Boda-boda Safety Association (BSAK) · CHV networks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4206240"/>
            <a:ext cx="5166360" cy="1737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A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88720" y="4498848"/>
            <a:ext cx="44348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1" i="0">
                <a:solidFill>
                  <a:srgbClr val="AD7916"/>
                </a:solidFill>
                <a:latin typeface="Calibri"/>
              </a:rPr>
              <a:t>Health &amp; support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4983479"/>
            <a:ext cx="44348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25121B"/>
                </a:solidFill>
                <a:latin typeface="Calibri"/>
              </a:rPr>
              <a:t>GVRC · psychosocial services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72200" y="4206240"/>
            <a:ext cx="5166360" cy="1737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A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37960" y="4498848"/>
            <a:ext cx="44348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1" i="0">
                <a:solidFill>
                  <a:srgbClr val="6A4BCF"/>
                </a:solidFill>
                <a:latin typeface="Calibri"/>
              </a:rPr>
              <a:t>Government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7960" y="4983479"/>
            <a:ext cx="44348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25121B"/>
                </a:solidFill>
                <a:latin typeface="Calibri"/>
              </a:rPr>
              <a:t>DPP · National Police Service — data-sharing MOU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E9D7DD"/>
              </a:gs>
              <a:gs pos="100000">
                <a:srgbClr val="FCFAFB"/>
              </a:gs>
            </a:gsLst>
            <a:lin scaled="0" ang="147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057400"/>
            <a:ext cx="105156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5200" b="1" i="0">
                <a:solidFill>
                  <a:srgbClr val="25121B"/>
                </a:solidFill>
                <a:latin typeface="Cambria"/>
              </a:rPr>
              <a:t>Already built.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5200" b="1" i="0">
                <a:solidFill>
                  <a:srgbClr val="D2336A"/>
                </a:solidFill>
                <a:latin typeface="Cambria"/>
              </a:rPr>
              <a:t>Now scale it.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4251960"/>
            <a:ext cx="98755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0" i="1">
                <a:solidFill>
                  <a:srgbClr val="6F5B65"/>
                </a:solidFill>
                <a:latin typeface="Calibri"/>
              </a:rPr>
              <a:t>Data, technology and community agency — turning a crisis everyone can see into one Kenya can finally measure, prevent and answer.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E5DEF1"/>
              </a:gs>
              <a:gs pos="100000">
                <a:srgbClr val="FCFAFB"/>
              </a:gs>
            </a:gsLst>
            <a:lin scaled="0" ang="147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 spc="22">
                <a:solidFill>
                  <a:srgbClr val="D2336A"/>
                </a:solidFill>
                <a:latin typeface="Calibri"/>
              </a:rPr>
              <a:t>GET IN TOUCH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4000" b="1" i="0">
                <a:solidFill>
                  <a:srgbClr val="25121B"/>
                </a:solidFill>
                <a:latin typeface="Cambria"/>
              </a:rPr>
              <a:t>FemSaidia Kenya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46888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6F5B65"/>
                </a:solidFill>
                <a:latin typeface="Calibri"/>
              </a:rPr>
              <a:t>Community Media Trust  ·  Nairobi, Kenya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383280"/>
            <a:ext cx="1737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 spc="10">
                <a:solidFill>
                  <a:srgbClr val="D2336A"/>
                </a:solidFill>
                <a:latin typeface="Calibri"/>
              </a:rPr>
              <a:t>WEB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60320" y="3346704"/>
            <a:ext cx="3566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25121B"/>
                </a:solidFill>
                <a:latin typeface="Calibri"/>
              </a:rPr>
              <a:t>femsaidiakenya.org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3383280"/>
            <a:ext cx="1737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 spc="10">
                <a:solidFill>
                  <a:srgbClr val="D2336A"/>
                </a:solidFill>
                <a:latin typeface="Calibri"/>
              </a:rPr>
              <a:t>RED FLAG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5280" y="3346704"/>
            <a:ext cx="3566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25121B"/>
                </a:solidFill>
                <a:latin typeface="Calibri"/>
              </a:rPr>
              <a:t>redflag.femsaidiakenya.org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041648"/>
            <a:ext cx="1737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 spc="10">
                <a:solidFill>
                  <a:srgbClr val="D2336A"/>
                </a:solidFill>
                <a:latin typeface="Calibri"/>
              </a:rPr>
              <a:t>INTELLIGENCE DESK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60320" y="4005072"/>
            <a:ext cx="3566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25121B"/>
                </a:solidFill>
                <a:latin typeface="Calibri"/>
              </a:rPr>
              <a:t>saint.femsaidiakenya.org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4041648"/>
            <a:ext cx="1737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 spc="10">
                <a:solidFill>
                  <a:srgbClr val="D2336A"/>
                </a:solidFill>
                <a:latin typeface="Calibri"/>
              </a:rPr>
              <a:t>USSD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5280" y="4005072"/>
            <a:ext cx="3566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25121B"/>
                </a:solidFill>
                <a:latin typeface="Calibri"/>
              </a:rPr>
              <a:t>*384*89056#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700016"/>
            <a:ext cx="1737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 spc="10">
                <a:solidFill>
                  <a:srgbClr val="D2336A"/>
                </a:solidFill>
                <a:latin typeface="Calibri"/>
              </a:rPr>
              <a:t>LEAD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60320" y="4663440"/>
            <a:ext cx="3566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25121B"/>
                </a:solidFill>
                <a:latin typeface="Calibri"/>
              </a:rPr>
              <a:t>Victor Ombonya · ombonya@gmail.com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4700016"/>
            <a:ext cx="1737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 spc="10">
                <a:solidFill>
                  <a:srgbClr val="D2336A"/>
                </a:solidFill>
                <a:latin typeface="Calibri"/>
              </a:rPr>
              <a:t>CODE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55280" y="4663440"/>
            <a:ext cx="3566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25121B"/>
                </a:solidFill>
                <a:latin typeface="Calibri"/>
              </a:rPr>
              <a:t>github.com/ombonya-del/femsaidiakenya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