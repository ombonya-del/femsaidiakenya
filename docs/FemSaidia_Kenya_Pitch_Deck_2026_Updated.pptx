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0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6978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8A103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FemSaidia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8A1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Kenya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8046720" cy="18288"/>
          </a:xfrm>
          <a:prstGeom prst="rect">
            <a:avLst/>
          </a:prstGeom>
          <a:solidFill>
            <a:srgbClr val="8A103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2880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Femicide Intelligence · Safety Tools · Community Response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femsaidiakenya.org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Media Trust  ·  Nairobi, Kenya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320040"/>
          </a:xfrm>
          <a:prstGeom prst="rect">
            <a:avLst/>
          </a:prstGeom>
          <a:solidFill>
            <a:srgbClr val="8A103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woman is killed every 47 hours in Kenya.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8288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600200"/>
            <a:ext cx="2011680" cy="2560320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600200"/>
            <a:ext cx="2011680" cy="64008"/>
          </a:xfrm>
          <a:prstGeom prst="rect">
            <a:avLst/>
          </a:prstGeom>
          <a:solidFill>
            <a:srgbClr val="CC101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783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C1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femicide cases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2014–2026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1600200"/>
            <a:ext cx="2011680" cy="2560320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606040" y="1600200"/>
            <a:ext cx="2011680" cy="64008"/>
          </a:xfrm>
          <a:prstGeom prst="rect">
            <a:avLst/>
          </a:prstGeom>
          <a:solidFill>
            <a:srgbClr val="C8963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606040" y="1783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89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47hrs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69748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between cases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9748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verified DB data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600200"/>
            <a:ext cx="2011680" cy="2560320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754880" y="1600200"/>
            <a:ext cx="2011680" cy="64008"/>
          </a:xfrm>
          <a:prstGeom prst="rect">
            <a:avLst/>
          </a:prstGeom>
          <a:solidFill>
            <a:srgbClr val="1A6A3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754880" y="1783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6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84632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resulting in conviction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Justice gap in Kenya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03720" y="1600200"/>
            <a:ext cx="2011680" cy="2560320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903720" y="1600200"/>
            <a:ext cx="2011680" cy="64008"/>
          </a:xfrm>
          <a:prstGeom prst="rect">
            <a:avLst/>
          </a:prstGeom>
          <a:solidFill>
            <a:srgbClr val="8A103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903720" y="1783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A1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99516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femicide databases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9516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FemSaidia Kenya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A0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FemSaidia Kenya case database · FIDA Kenya · Femicide Count Kenya · Director of Public Prosecutions annual reports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320040"/>
          </a:xfrm>
          <a:prstGeom prst="rect">
            <a:avLst/>
          </a:prstGeom>
          <a:solidFill>
            <a:srgbClr val="8A103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0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tools. One safety ecosystem.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hepa, Red Flag, Salmin, Itika and SaInt work as one — each covering a different need, all connected.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011680" cy="2651760"/>
          </a:xfrm>
          <a:prstGeom prst="rect">
            <a:avLst/>
          </a:prstGeom>
          <a:solidFill>
            <a:srgbClr val="0A2A1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1691640"/>
            <a:ext cx="2011680" cy="73152"/>
          </a:xfrm>
          <a:prstGeom prst="rect">
            <a:avLst/>
          </a:prstGeom>
          <a:solidFill>
            <a:srgbClr val="2A9A5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hepa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A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safety app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301752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decoy. Long-press panic sends GPS + push alert to Itika responders instantly.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379476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A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hepa.femsaidiakenya.org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14600" y="1691640"/>
            <a:ext cx="2011680" cy="2651760"/>
          </a:xfrm>
          <a:prstGeom prst="rect">
            <a:avLst/>
          </a:prstGeom>
          <a:solidFill>
            <a:srgbClr val="3A0010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514600" y="1691640"/>
            <a:ext cx="2011680" cy="73152"/>
          </a:xfrm>
          <a:prstGeom prst="rect">
            <a:avLst/>
          </a:prstGeom>
          <a:solidFill>
            <a:srgbClr val="CC101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51460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🚩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60604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 Flag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0604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C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intelligence PWA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87752" y="301752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JiJue archetypes. JiTume ecosystem. LindaLinda safety norms. Perpetrator profiles.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87752" y="379476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redflag.femsaidiakenya.org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1691640"/>
            <a:ext cx="2011680" cy="2651760"/>
          </a:xfrm>
          <a:prstGeom prst="rect">
            <a:avLst/>
          </a:prstGeom>
          <a:solidFill>
            <a:srgbClr val="0A1A3A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663440" y="1691640"/>
            <a:ext cx="2011680" cy="73152"/>
          </a:xfrm>
          <a:prstGeom prst="rect">
            <a:avLst/>
          </a:prstGeom>
          <a:solidFill>
            <a:srgbClr val="3A6AA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66344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📞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5488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Salmin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5488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3A6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USSD shortcode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36592" y="301752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*384*89056# — works on any phone, any network, zero internet. Salama Salmin.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36592" y="379476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6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*384*89056#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812280" y="1691640"/>
            <a:ext cx="2011680" cy="2651760"/>
          </a:xfrm>
          <a:prstGeom prst="rect">
            <a:avLst/>
          </a:prstGeom>
          <a:solidFill>
            <a:srgbClr val="071A0F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812280" y="1691640"/>
            <a:ext cx="2011680" cy="73152"/>
          </a:xfrm>
          <a:prstGeom prst="rect">
            <a:avLst/>
          </a:prstGeom>
          <a:solidFill>
            <a:srgbClr val="2A9A5A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81228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90372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Itika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0372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A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Responder Network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85432" y="301752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responders. Live push notifications from hepa panic, timer expiry and RedFlag SOS.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85432" y="379476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A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itika.femsaidiakenya.org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395728" y="3108960"/>
            <a:ext cx="91440" cy="18288"/>
          </a:xfrm>
          <a:prstGeom prst="rect">
            <a:avLst/>
          </a:prstGeom>
          <a:solidFill>
            <a:srgbClr val="D4BEC4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377440" y="3017520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BEC4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44568" y="3108960"/>
            <a:ext cx="91440" cy="18288"/>
          </a:xfrm>
          <a:prstGeom prst="rect">
            <a:avLst/>
          </a:prstGeom>
          <a:solidFill>
            <a:srgbClr val="D4BEC4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526280" y="3017520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BEC4"/>
                </a:solidFill>
              </a:rPr>
              <a:t>→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693408" y="3108960"/>
            <a:ext cx="91440" cy="18288"/>
          </a:xfrm>
          <a:prstGeom prst="rect">
            <a:avLst/>
          </a:prstGeom>
          <a:solidFill>
            <a:srgbClr val="D4BEC4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675120" y="3017520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BEC4"/>
                </a:solidFill>
              </a:rPr>
              <a:t>→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tools share the same Supabase backend and are built on the same data infrastructure — femsaidiakenya.org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320040"/>
          </a:xfrm>
          <a:prstGeom prst="rect">
            <a:avLst/>
          </a:prstGeom>
          <a:solidFill>
            <a:srgbClr val="8A103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FEMSAIDIAKENYA.ORG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0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Kenya's femicide intelligence platform.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114800" cy="96012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581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0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Case Tracker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8562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 verified cases. Justice funnel. County map. Perpetrator relationships. Case references.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0" y="1508760"/>
            <a:ext cx="4114800" cy="96012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834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0" y="1581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0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Choropleth Map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8562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levels by county. Historical vs verified data. Critical through Low risk tiers.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4114800" cy="96012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2679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0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Socials &amp; Sentiment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9535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scanner every 6 hrs. Misogyny Index. Tech-facilitated GBV tracking. Misogyny of the Day.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2606040"/>
            <a:ext cx="4114800" cy="96012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834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🚩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0" y="2679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0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 Intelligence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29535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JiJue archetypes. JiTume ecosystem guide. LindaLinda safety norms. Perpetrator database.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4114800" cy="96012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43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97280" y="3776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0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Alert System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0507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Resend email when high-priority GBV articles detected. gbv_relevance ≥ 8 threshold.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3703320"/>
            <a:ext cx="4114800" cy="96012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9834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86400" y="3776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0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Invite-gated access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40507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CSO network only. Magic link auth. Supabase backend. Vercel deployment.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A0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365760"/>
            <a:ext cx="54864" cy="320040"/>
          </a:xfrm>
          <a:prstGeom prst="rect">
            <a:avLst/>
          </a:prstGeom>
          <a:solidFill>
            <a:srgbClr val="2A9A5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 · hepa.femsaidiakenya.org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smartphone safety tool built for women at risk.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011680" cy="2377440"/>
          </a:xfrm>
          <a:prstGeom prst="rect">
            <a:avLst/>
          </a:prstGeom>
          <a:solidFill>
            <a:srgbClr val="0A2A1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508760"/>
            <a:ext cx="2011680" cy="64008"/>
          </a:xfrm>
          <a:prstGeom prst="rect">
            <a:avLst/>
          </a:prstGeom>
          <a:solidFill>
            <a:srgbClr val="2A9A5A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234440" y="1645920"/>
            <a:ext cx="457200" cy="457200"/>
          </a:xfrm>
          <a:prstGeom prst="ellipse">
            <a:avLst/>
          </a:prstGeom>
          <a:solidFill>
            <a:srgbClr val="1A6A3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344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exactly like a standard calculator. No FemSaidia branding visible.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1508760"/>
            <a:ext cx="2011680" cy="2377440"/>
          </a:xfrm>
          <a:prstGeom prst="rect">
            <a:avLst/>
          </a:prstGeom>
          <a:solidFill>
            <a:srgbClr val="0A2A1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606040" y="1508760"/>
            <a:ext cx="2011680" cy="64008"/>
          </a:xfrm>
          <a:prstGeom prst="rect">
            <a:avLst/>
          </a:prstGeom>
          <a:solidFill>
            <a:srgbClr val="2A9A5A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383280" y="1645920"/>
            <a:ext cx="457200" cy="457200"/>
          </a:xfrm>
          <a:prstGeom prst="ellipse">
            <a:avLst/>
          </a:prstGeom>
          <a:solidFill>
            <a:srgbClr val="1A6A3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3832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Panic trigger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2606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long press on the = key sends GPS coordinates to the emergency contact.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508760"/>
            <a:ext cx="2011680" cy="2377440"/>
          </a:xfrm>
          <a:prstGeom prst="rect">
            <a:avLst/>
          </a:prstGeom>
          <a:solidFill>
            <a:srgbClr val="0A2A1A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754880" y="1508760"/>
            <a:ext cx="2011680" cy="64008"/>
          </a:xfrm>
          <a:prstGeom prst="rect">
            <a:avLst/>
          </a:prstGeom>
          <a:solidFill>
            <a:srgbClr val="2A9A5A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532120" y="1645920"/>
            <a:ext cx="457200" cy="457200"/>
          </a:xfrm>
          <a:prstGeom prst="ellipse">
            <a:avLst/>
          </a:prstGeom>
          <a:solidFill>
            <a:srgbClr val="1A6A3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5321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alert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2606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 receives SMS with location. No sound. No visible notification.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1508760"/>
            <a:ext cx="2011680" cy="2377440"/>
          </a:xfrm>
          <a:prstGeom prst="rect">
            <a:avLst/>
          </a:prstGeom>
          <a:solidFill>
            <a:srgbClr val="0A2A1A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903720" y="1508760"/>
            <a:ext cx="2011680" cy="64008"/>
          </a:xfrm>
          <a:prstGeom prst="rect">
            <a:avLst/>
          </a:prstGeom>
          <a:solidFill>
            <a:srgbClr val="2A9A5A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680960" y="1645920"/>
            <a:ext cx="457200" cy="457200"/>
          </a:xfrm>
          <a:prstGeom prst="ellipse">
            <a:avLst/>
          </a:prstGeom>
          <a:solidFill>
            <a:srgbClr val="1A6A3A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680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9516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Installable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5160" y="2606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— installs on home screen like a native app. Works offline.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2A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includes: USSD alternative (*384*89056#) · Survival guide · FemSaidia network referrals · Offline capable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320040"/>
          </a:xfrm>
          <a:prstGeom prst="rect">
            <a:avLst/>
          </a:prstGeom>
          <a:solidFill>
            <a:srgbClr val="CC101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840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 PWA · TRI-LINGUAL (EN · SW · SHENG) · redflag.femsaidiakenya.org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1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 Flag — safety intelligence in every pocket.</a:t>
            </a:r>
            <a:r>
              <a:rPr lang="en-US" sz="2600" b="1" dirty="0">
                <a:solidFill>
                  <a:srgbClr val="180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/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06040" cy="128016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508760"/>
            <a:ext cx="64008" cy="1280160"/>
          </a:xfrm>
          <a:prstGeom prst="rect">
            <a:avLst/>
          </a:prstGeom>
          <a:solidFill>
            <a:srgbClr val="1A3F6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5819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0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🌱 JiJue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928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Yourself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0756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archetypes — Naive, Precocious, All-In and On/Off. Red flags, protective measures, survivor voices, We Remember memorial.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606040" cy="128016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00400" y="1508760"/>
            <a:ext cx="64008" cy="1280160"/>
          </a:xfrm>
          <a:prstGeom prst="rect">
            <a:avLst/>
          </a:prstGeom>
          <a:solidFill>
            <a:srgbClr val="1A5A2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337560" y="15819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0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🛡️ JiTume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8928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20756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ecosystem around her. Bartenders, boda-boda riders, neighbours, building guards — what to watch for, what to do.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508760"/>
            <a:ext cx="2606040" cy="128016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35040" y="1508760"/>
            <a:ext cx="64008" cy="1280160"/>
          </a:xfrm>
          <a:prstGeom prst="rect">
            <a:avLst/>
          </a:prstGeom>
          <a:solidFill>
            <a:srgbClr val="8A401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72200" y="15819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0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LindaLinda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8928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4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&amp; Share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72200" y="20756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Community-sourced safety norms. First-person stories from survivors, those left behind, witnesses.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2606040" cy="128016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65760" y="2926080"/>
            <a:ext cx="64008" cy="1280160"/>
          </a:xfrm>
          <a:prstGeom prst="rect">
            <a:avLst/>
          </a:prstGeom>
          <a:solidFill>
            <a:srgbClr val="5A187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02920" y="29992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0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🎙️ Voices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31012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A1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Voices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34930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 reflections. Left-behind accounts. Witness stories. Submitted via PWA, curated by admin.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606040" cy="128016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200400" y="2926080"/>
            <a:ext cx="64008" cy="1280160"/>
          </a:xfrm>
          <a:prstGeom prst="rect">
            <a:avLst/>
          </a:prstGeom>
          <a:solidFill>
            <a:srgbClr val="8A1030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337560" y="29992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0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🕯️ We Remember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331012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37560" y="34930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by archetype. Emma Akinyi. Mitchell Angel. Consolata Githinji. Names said, not forgotten.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926080"/>
            <a:ext cx="2606040" cy="128016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035040" y="2926080"/>
            <a:ext cx="64008" cy="1280160"/>
          </a:xfrm>
          <a:prstGeom prst="rect">
            <a:avLst/>
          </a:prstGeom>
          <a:solidFill>
            <a:srgbClr val="3A0010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172200" y="29992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0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🚩 Database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72200" y="331012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Perpetrator profiles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72200" y="34930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Community-submitted, admin-verified profiles. Tier 1–3. County, social handles, modus operandi.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A1A3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71A0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44568" y="0"/>
            <a:ext cx="54864" cy="5143500"/>
          </a:xfrm>
          <a:prstGeom prst="rect">
            <a:avLst/>
          </a:prstGeom>
          <a:solidFill>
            <a:srgbClr val="8A103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📞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Salmin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A6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USSD SHORTCODE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8A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*384*89056#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Salama Salmin — safe and sound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Works on any phone — no smartphone, no internet, no data needed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182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Any network — Safaricom, Airtel, Telkom Kenya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5295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Emergency contacts · Safety tips · Incident reporting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877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Routes high-priority alerts to FemSaidia admin team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224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Ksh 1.25 per session — cheaper than an SMS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🛡️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937760" y="1051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Itika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937760" y="1554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A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RESPONDER NETWORK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A9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"Heed the call"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itika.femsaidiakenya.org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🏍️  Boda-boda riders — fast, mobile, networked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090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Community health workers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438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 SRHR advocates &amp; paralegals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3785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Faith leaders &amp; community elders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4133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Real-time county-routed alerts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4480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Verify, accept, respond, resolve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320040"/>
          </a:xfrm>
          <a:prstGeom prst="rect">
            <a:avLst/>
          </a:prstGeom>
          <a:solidFill>
            <a:srgbClr val="8A103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840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SOCIALS &amp; SENTIMENT · INTELLIGENCE ENGINE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track the narrative that precedes the violence.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011680" cy="2834640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600200"/>
            <a:ext cx="2011680" cy="64008"/>
          </a:xfrm>
          <a:prstGeom prst="rect">
            <a:avLst/>
          </a:prstGeom>
          <a:solidFill>
            <a:srgbClr val="8A103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RSS Scanner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6 hours. Scans Google News for GBV and femicide content across Kenya. Auto-classifies misogyny score, sentiment, tech-facilitated GBV.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06040" y="1600200"/>
            <a:ext cx="2011680" cy="2834640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606040" y="1600200"/>
            <a:ext cx="2011680" cy="64008"/>
          </a:xfrm>
          <a:prstGeom prst="rect">
            <a:avLst/>
          </a:prstGeom>
          <a:solidFill>
            <a:srgbClr val="C8963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60604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9748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Misogyny Index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27889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score: 40% high misogyny, 25% alarming sentiment, 20% tech-facilitated, 15% high GBV relevance. 30-day trend chart.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600200"/>
            <a:ext cx="2011680" cy="2834640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754880" y="1600200"/>
            <a:ext cx="2011680" cy="64008"/>
          </a:xfrm>
          <a:prstGeom prst="rect">
            <a:avLst/>
          </a:prstGeom>
          <a:solidFill>
            <a:srgbClr val="CC101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5488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84632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Misogyny of the Day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7889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posts from TikTok, X, Facebook, Instagram, Reddit — the posts that illustrate the pipeline from toxic rhetoric to violence. Admin-curated daily.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03720" y="1600200"/>
            <a:ext cx="2011680" cy="2834640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903720" y="1600200"/>
            <a:ext cx="2011680" cy="64008"/>
          </a:xfrm>
          <a:prstGeom prst="rect">
            <a:avLst/>
          </a:prstGeom>
          <a:solidFill>
            <a:srgbClr val="2A9A5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90372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9516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Case Alert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95160" y="27889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gbv_relevance ≥ 8, an automated Resend email fires to the admin team. Never miss a case that needs documentation.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320040"/>
          </a:xfrm>
          <a:prstGeom prst="rect">
            <a:avLst/>
          </a:prstGeom>
          <a:solidFill>
            <a:srgbClr val="2A9A5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ITIKA · FIRST RESPONDER NETWORK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community layer between panic and police.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GBV responses fail because trained help arrives too late — or not at all. Itika puts verified, trained community responders on alert the moment a distress signal fires.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1554480" cy="1280160"/>
          </a:xfrm>
          <a:prstGeom prst="rect">
            <a:avLst/>
          </a:prstGeom>
          <a:solidFill>
            <a:srgbClr val="3A001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74320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Distress signal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 panic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Salmin USSD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47088" y="2331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9A5A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93392" y="1874520"/>
            <a:ext cx="1554480" cy="1280160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993392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FemSaidia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93392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0" y="2331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9A5A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12464" y="1874520"/>
            <a:ext cx="1554480" cy="1280160"/>
          </a:xfrm>
          <a:prstGeom prst="rect">
            <a:avLst/>
          </a:prstGeom>
          <a:solidFill>
            <a:srgbClr val="0A2A1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712464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Itika responders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12464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County-routed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alert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85232" y="2331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9A5A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31536" y="1874520"/>
            <a:ext cx="1554480" cy="1280160"/>
          </a:xfrm>
          <a:prstGeom prst="rect">
            <a:avLst/>
          </a:prstGeom>
          <a:solidFill>
            <a:srgbClr val="1A6A3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31536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response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31536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ground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minutes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04304" y="2331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9A5A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50608" y="1874520"/>
            <a:ext cx="1554480" cy="1280160"/>
          </a:xfrm>
          <a:prstGeom prst="rect">
            <a:avLst/>
          </a:prstGeom>
          <a:solidFill>
            <a:srgbClr val="1A1A5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150608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Police / medical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50608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accompaniment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337560"/>
            <a:ext cx="8229600" cy="18288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RESPONDERS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🏍️ Boda-boda riders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Community health workers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SRHR advocates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Faith leaders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👴 Community elders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Organisation staff (FIDA, COVAW, NAYA, MMAAK)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320040"/>
          </a:xfrm>
          <a:prstGeom prst="rect">
            <a:avLst/>
          </a:prstGeom>
          <a:solidFill>
            <a:srgbClr val="8A103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&amp; STAKEHOLDERS*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0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 the ecosystem. Scaled through it.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96012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508760"/>
            <a:ext cx="64008" cy="960120"/>
          </a:xfrm>
          <a:prstGeom prst="rect">
            <a:avLst/>
          </a:prstGeom>
          <a:solidFill>
            <a:srgbClr val="8A103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581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0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society &amp; advocacy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FIDA Kenya · COVAW · Usikimye · Amnesty Kenya · Femicide Count Kenya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4114800" cy="96012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54880" y="1508760"/>
            <a:ext cx="64008" cy="960120"/>
          </a:xfrm>
          <a:prstGeom prst="rect">
            <a:avLst/>
          </a:prstGeom>
          <a:solidFill>
            <a:srgbClr val="5A187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92040" y="1581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0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SRHR coalition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8562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NAYA Kenya · MMAAK · Zamara Foundation · AfyAfrika · Men Engage Kenya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508760"/>
            <a:ext cx="4114800" cy="96012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lstStyle/>
          <a:p>
            <a:endParaRPr lang="en-KE" dirty="0"/>
          </a:p>
        </p:txBody>
      </p:sp>
      <p:sp>
        <p:nvSpPr>
          <p:cNvPr id="14" name="Shape 12"/>
          <p:cNvSpPr/>
          <p:nvPr/>
        </p:nvSpPr>
        <p:spPr>
          <a:xfrm>
            <a:off x="365760" y="1508760"/>
            <a:ext cx="64008" cy="960120"/>
          </a:xfrm>
          <a:prstGeom prst="rect">
            <a:avLst/>
          </a:prstGeom>
          <a:solidFill>
            <a:srgbClr val="1A3F6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" y="1581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0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justice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18562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Society of Kenya · DPP Office · Judiciary GBV divisions, </a:t>
            </a:r>
            <a:r>
              <a:rPr lang="en-US" sz="950" dirty="0" err="1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Katiba</a:t>
            </a:r>
            <a:r>
              <a:rPr lang="en-US" sz="95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Institute, KNHCR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4114800" cy="96012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754880" y="2606040"/>
            <a:ext cx="64008" cy="960120"/>
          </a:xfrm>
          <a:prstGeom prst="rect">
            <a:avLst/>
          </a:prstGeom>
          <a:solidFill>
            <a:srgbClr val="1A6A3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92040" y="2679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0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networks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9535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Boda-boda Safety Association of Kenya · Community Health Volunteer networks · Faith councils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606040"/>
            <a:ext cx="4114800" cy="96012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365760" y="2606040"/>
            <a:ext cx="64008" cy="960120"/>
          </a:xfrm>
          <a:prstGeom prst="rect">
            <a:avLst/>
          </a:prstGeom>
          <a:solidFill>
            <a:srgbClr val="C8963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2920" y="2679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0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intelligence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29535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 Africa · Standard Group · The Elephant · Africa Uncensored · </a:t>
            </a:r>
            <a:r>
              <a:rPr lang="en-US" sz="950" dirty="0" err="1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Piga</a:t>
            </a:r>
            <a:r>
              <a:rPr lang="en-US" sz="95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Firimbi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606040"/>
            <a:ext cx="4114800" cy="96012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754880" y="2606040"/>
            <a:ext cx="64008" cy="960120"/>
          </a:xfrm>
          <a:prstGeom prst="rect">
            <a:avLst/>
          </a:prstGeom>
          <a:solidFill>
            <a:srgbClr val="8A4010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892040" y="2679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0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funders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9535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Women Kenya · UNFPA · Ford Foundation · Comic Relief · Hewlett Foundation, Reset, AU (AWARE, GIZ)</a:t>
            </a:r>
            <a:endParaRPr lang="en-US" sz="950" dirty="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1D8EBDE0-9A1E-4260-6461-D6F682FEF78B}"/>
              </a:ext>
            </a:extLst>
          </p:cNvPr>
          <p:cNvSpPr/>
          <p:nvPr/>
        </p:nvSpPr>
        <p:spPr>
          <a:xfrm>
            <a:off x="429768" y="41650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*- </a:t>
            </a:r>
            <a:r>
              <a:rPr lang="en-US" sz="80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aspirational and outreach efforts are underway to secure their interest and participation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320040"/>
          </a:xfrm>
          <a:prstGeom prst="rect">
            <a:avLst/>
          </a:prstGeom>
          <a:solidFill>
            <a:srgbClr val="C8963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840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· 18-MONTH OPERATIONAL BUDGET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110,000 — Already built. Now scale it.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4630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0" y="1463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463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4864" cy="256032"/>
          </a:xfrm>
          <a:prstGeom prst="rect">
            <a:avLst/>
          </a:prstGeom>
          <a:solidFill>
            <a:srgbClr val="8A103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17830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Salmin USSD operations (Africa's Talking)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1783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1783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54864" cy="256032"/>
          </a:xfrm>
          <a:prstGeom prst="rect">
            <a:avLst/>
          </a:prstGeom>
          <a:solidFill>
            <a:srgbClr val="1A6A3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21945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Itika First Responder Network (training, coordination)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194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2194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54864" cy="256032"/>
          </a:xfrm>
          <a:prstGeom prst="rect">
            <a:avLst/>
          </a:prstGeom>
          <a:solidFill>
            <a:srgbClr val="1A3F6F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4360" y="26060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hosting &amp; infrastructure (Vercel, Supabase)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606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2606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54864" cy="256032"/>
          </a:xfrm>
          <a:prstGeom prst="rect">
            <a:avLst/>
          </a:prstGeom>
          <a:solidFill>
            <a:srgbClr val="C8963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4360" y="3017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verification &amp; data team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3017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54864" cy="256032"/>
          </a:xfrm>
          <a:prstGeom prst="rect">
            <a:avLst/>
          </a:prstGeom>
          <a:solidFill>
            <a:srgbClr val="5A1870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94360" y="34290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outreach &amp; CSO partnerships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429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34290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54864" cy="256032"/>
          </a:xfrm>
          <a:prstGeom prst="rect">
            <a:avLst/>
          </a:prstGeom>
          <a:solidFill>
            <a:srgbClr val="8A4010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94360" y="38404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&amp; media intelligence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3840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3840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97680"/>
            <a:ext cx="54864" cy="256032"/>
          </a:xfrm>
          <a:prstGeom prst="rect">
            <a:avLst/>
          </a:prstGeom>
          <a:solidFill>
            <a:srgbClr val="B89AAA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94360" y="42519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management &amp; admin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4251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0" y="4251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8229600" cy="54864"/>
          </a:xfrm>
          <a:prstGeom prst="rect">
            <a:avLst/>
          </a:prstGeom>
          <a:solidFill>
            <a:srgbClr val="8A1030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18-month ask: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43600" y="4663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89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110,000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320040"/>
          </a:xfrm>
          <a:prstGeom prst="rect">
            <a:avLst/>
          </a:prstGeom>
          <a:solidFill>
            <a:srgbClr val="8A103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REACH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0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 reach. What changes.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96012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👩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581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0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at risk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8562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safety tools — hepa, Red Flag, Salmin — designed for women in abusive households. Works on any device, any network.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4114800" cy="96012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8463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49240" y="1581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0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responders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49240" y="18562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Itika puts trained boda-boda riders, CHWs and advocates on alert within seconds of a distress signal. County-routed. Verified.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508760"/>
            <a:ext cx="4114800" cy="96012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0120" y="1581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0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CSOs &amp; legal aid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18562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infrastructure eliminates duplication. Verified case data for advocacy, litigation and policy work.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4114800" cy="96012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8463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49240" y="2679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0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Policymakers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29535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unified femicide database in Kenya. County breakdown, justice funnel, perpetrator profiles, trend data.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606040"/>
            <a:ext cx="4114800" cy="96012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72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60120" y="2679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0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29535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structured case data. RSS intelligence feed. Misogyny Index. No more operating blind.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606040"/>
            <a:ext cx="4114800" cy="960120"/>
          </a:xfrm>
          <a:prstGeom prst="rect">
            <a:avLst/>
          </a:prstGeom>
          <a:solidFill>
            <a:srgbClr val="F0E8ED"/>
          </a:solidFill>
          <a:ln w="6350">
            <a:solidFill>
              <a:srgbClr val="D4BEC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8463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🕯️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49240" y="2679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0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&amp; survivors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29535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Remember memorial. Voices platform. Safety norms community. Documentation for justice.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320040"/>
          </a:xfrm>
          <a:prstGeom prst="rect">
            <a:avLst/>
          </a:prstGeom>
          <a:solidFill>
            <a:srgbClr val="C8963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TIMELINE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development to national scale.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7772400" cy="36576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97280" y="2084832"/>
            <a:ext cx="347472" cy="347472"/>
          </a:xfrm>
          <a:prstGeom prst="ellipse">
            <a:avLst/>
          </a:prstGeom>
          <a:solidFill>
            <a:srgbClr val="2A9A5A"/>
          </a:solidFill>
          <a:ln w="25400">
            <a:solidFill>
              <a:srgbClr val="2A9A5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371600"/>
            <a:ext cx="1645920" cy="594360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3898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184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1645920" cy="1463040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" y="26517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ecosystem live: FemSaidia Kenya, hepa, RedFlag, Itika, SaInt — all deployed. 700+ articles classified. Push notifications live to verified responders.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80360" y="2084832"/>
            <a:ext cx="347472" cy="347472"/>
          </a:xfrm>
          <a:prstGeom prst="ellipse">
            <a:avLst/>
          </a:prstGeom>
          <a:solidFill>
            <a:srgbClr val="2A0818"/>
          </a:solidFill>
          <a:ln w="25400">
            <a:solidFill>
              <a:srgbClr val="C8963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240280" y="1371600"/>
            <a:ext cx="1645920" cy="594360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240280" y="13898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40280" y="16184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USSD go-live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40280" y="2606040"/>
            <a:ext cx="1645920" cy="1463040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286000" y="26517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Salmin production shortcode active on Safaricom, Airtel and Telkom Kenya networks.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2084832"/>
            <a:ext cx="347472" cy="347472"/>
          </a:xfrm>
          <a:prstGeom prst="ellipse">
            <a:avLst/>
          </a:prstGeom>
          <a:solidFill>
            <a:srgbClr val="2A0818"/>
          </a:solidFill>
          <a:ln w="25400">
            <a:solidFill>
              <a:srgbClr val="2A9A5A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023360" y="1371600"/>
            <a:ext cx="1645920" cy="594360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023360" y="13898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23360" y="16184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Itika pilot launch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23360" y="2606040"/>
            <a:ext cx="1645920" cy="1463040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069080" y="26517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confirmed multi-device. hepa panic, timer expiry and RedFlag SOS all wired to Itika. — Nairobi, Mombasa, Nakuru, Kisumu, Kajiado.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46520" y="2084832"/>
            <a:ext cx="347472" cy="347472"/>
          </a:xfrm>
          <a:prstGeom prst="ellipse">
            <a:avLst/>
          </a:prstGeom>
          <a:solidFill>
            <a:srgbClr val="2A0818"/>
          </a:solidFill>
          <a:ln w="25400">
            <a:solidFill>
              <a:srgbClr val="CC101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806440" y="1371600"/>
            <a:ext cx="1645920" cy="594360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806440" y="13898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06440" y="16184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scale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06440" y="2606040"/>
            <a:ext cx="1645920" cy="1463040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852160" y="26517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responders. All 47 counties covered. Intelligence feed automated. Partner CSO network active.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229600" y="2084832"/>
            <a:ext cx="347472" cy="347472"/>
          </a:xfrm>
          <a:prstGeom prst="ellipse">
            <a:avLst/>
          </a:prstGeom>
          <a:solidFill>
            <a:srgbClr val="2A0818"/>
          </a:solidFill>
          <a:ln w="25400">
            <a:solidFill>
              <a:srgbClr val="C8963A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589520" y="1371600"/>
            <a:ext cx="1645920" cy="594360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589520" y="13898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89520" y="16184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89520" y="2606040"/>
            <a:ext cx="1645920" cy="1463040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635240" y="26517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data MOU. Institutional funding secured. Community Media Trust team expanded.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8A103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640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end femicide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A1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together.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7772400" cy="27432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2606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femsaidiakenya.org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2606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app: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hepa.femsaidiakenya.org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449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PWA: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3044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redflag.femsaidiakenya.org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30449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3044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itika.femsaidiakenya.org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4838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USSD: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34838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8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*384*89056# (Salmin)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34838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34838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saint.femsaidiakenya.org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A0818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Media Trust  ·  Nairobi, Kenya  ·  ombonya@gmail.com  ·  femsaidiakenya.org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1574</Words>
  <Application>Microsoft Macintosh PowerPoint</Application>
  <PresentationFormat>On-screen Show (16:9)</PresentationFormat>
  <Paragraphs>276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FemSaidia Kenya — Pitch Deck 2026</dc:title>
  <dc:subject>PptxGenJS Presentation</dc:subject>
  <dc:creator>Community Media Trust</dc:creator>
  <cp:lastModifiedBy>Microsoft Office User</cp:lastModifiedBy>
  <cp:revision>4</cp:revision>
  <dcterms:created xsi:type="dcterms:W3CDTF">2026-05-17T20:34:16Z</dcterms:created>
  <dcterms:modified xsi:type="dcterms:W3CDTF">2026-06-24T08:28:56Z</dcterms:modified>
</cp:coreProperties>
</file>